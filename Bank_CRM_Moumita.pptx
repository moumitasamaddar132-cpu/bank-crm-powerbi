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80" r:id="rId5"/>
    <p:sldId id="279" r:id="rId6"/>
    <p:sldId id="260" r:id="rId7"/>
    <p:sldId id="262" r:id="rId8"/>
    <p:sldId id="263" r:id="rId9"/>
    <p:sldId id="265" r:id="rId10"/>
    <p:sldId id="277" r:id="rId11"/>
    <p:sldId id="276" r:id="rId12"/>
    <p:sldId id="274" r:id="rId13"/>
    <p:sldId id="275" r:id="rId14"/>
    <p:sldId id="267" r:id="rId15"/>
    <p:sldId id="266" r:id="rId16"/>
    <p:sldId id="268" r:id="rId17"/>
    <p:sldId id="269" r:id="rId18"/>
    <p:sldId id="270" r:id="rId19"/>
    <p:sldId id="271" r:id="rId20"/>
    <p:sldId id="281" r:id="rId21"/>
    <p:sldId id="283" r:id="rId22"/>
    <p:sldId id="278" r:id="rId23"/>
    <p:sldId id="264" r:id="rId24"/>
    <p:sldId id="272" r:id="rId25"/>
    <p:sldId id="273" r:id="rId26"/>
    <p:sldId id="28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CFF"/>
    <a:srgbClr val="F2F8FC"/>
    <a:srgbClr val="F5F8FC"/>
    <a:srgbClr val="CCCCF3"/>
    <a:srgbClr val="CCCCFF"/>
    <a:srgbClr val="00CCFF"/>
    <a:srgbClr val="BDD7F7"/>
    <a:srgbClr val="BDD7F2"/>
    <a:srgbClr val="FFFFFF"/>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93" autoAdjust="0"/>
    <p:restoredTop sz="94660"/>
  </p:normalViewPr>
  <p:slideViewPr>
    <p:cSldViewPr snapToGrid="0">
      <p:cViewPr varScale="1">
        <p:scale>
          <a:sx n="72" d="100"/>
          <a:sy n="72" d="100"/>
        </p:scale>
        <p:origin x="61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38C4B31-D6DD-4742-BA22-0633D25AC056}"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089682-A6B0-4450-B348-D27F94DA94F3}" type="slidenum">
              <a:rPr lang="en-IN" smtClean="0"/>
              <a:t>‹#›</a:t>
            </a:fld>
            <a:endParaRPr lang="en-IN"/>
          </a:p>
        </p:txBody>
      </p:sp>
    </p:spTree>
    <p:extLst>
      <p:ext uri="{BB962C8B-B14F-4D97-AF65-F5344CB8AC3E}">
        <p14:creationId xmlns:p14="http://schemas.microsoft.com/office/powerpoint/2010/main" val="224473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38C4B31-D6DD-4742-BA22-0633D25AC056}"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089682-A6B0-4450-B348-D27F94DA94F3}" type="slidenum">
              <a:rPr lang="en-IN" smtClean="0"/>
              <a:t>‹#›</a:t>
            </a:fld>
            <a:endParaRPr lang="en-IN"/>
          </a:p>
        </p:txBody>
      </p:sp>
    </p:spTree>
    <p:extLst>
      <p:ext uri="{BB962C8B-B14F-4D97-AF65-F5344CB8AC3E}">
        <p14:creationId xmlns:p14="http://schemas.microsoft.com/office/powerpoint/2010/main" val="2361186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38C4B31-D6DD-4742-BA22-0633D25AC056}"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089682-A6B0-4450-B348-D27F94DA94F3}" type="slidenum">
              <a:rPr lang="en-IN" smtClean="0"/>
              <a:t>‹#›</a:t>
            </a:fld>
            <a:endParaRPr lang="en-IN"/>
          </a:p>
        </p:txBody>
      </p:sp>
    </p:spTree>
    <p:extLst>
      <p:ext uri="{BB962C8B-B14F-4D97-AF65-F5344CB8AC3E}">
        <p14:creationId xmlns:p14="http://schemas.microsoft.com/office/powerpoint/2010/main" val="1420649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38C4B31-D6DD-4742-BA22-0633D25AC056}" type="datetimeFigureOut">
              <a:rPr lang="en-IN" smtClean="0"/>
              <a:t>25-06-2026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089682-A6B0-4450-B348-D27F94DA94F3}" type="slidenum">
              <a:rPr lang="en-IN" smtClean="0"/>
              <a:t>‹#›</a:t>
            </a:fld>
            <a:endParaRPr lang="en-IN"/>
          </a:p>
        </p:txBody>
      </p:sp>
    </p:spTree>
    <p:extLst>
      <p:ext uri="{BB962C8B-B14F-4D97-AF65-F5344CB8AC3E}">
        <p14:creationId xmlns:p14="http://schemas.microsoft.com/office/powerpoint/2010/main" val="2457723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38C4B31-D6DD-4742-BA22-0633D25AC056}" type="datetimeFigureOut">
              <a:rPr lang="en-IN" smtClean="0"/>
              <a:t>25-06-2026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A089682-A6B0-4450-B348-D27F94DA94F3}" type="slidenum">
              <a:rPr lang="en-IN" smtClean="0"/>
              <a:t>‹#›</a:t>
            </a:fld>
            <a:endParaRPr lang="en-IN"/>
          </a:p>
        </p:txBody>
      </p:sp>
    </p:spTree>
    <p:extLst>
      <p:ext uri="{BB962C8B-B14F-4D97-AF65-F5344CB8AC3E}">
        <p14:creationId xmlns:p14="http://schemas.microsoft.com/office/powerpoint/2010/main" val="1391583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38C4B31-D6DD-4742-BA22-0633D25AC056}" type="datetimeFigureOut">
              <a:rPr lang="en-IN" smtClean="0"/>
              <a:t>25-06-2026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A089682-A6B0-4450-B348-D27F94DA94F3}" type="slidenum">
              <a:rPr lang="en-IN" smtClean="0"/>
              <a:t>‹#›</a:t>
            </a:fld>
            <a:endParaRPr lang="en-IN"/>
          </a:p>
        </p:txBody>
      </p:sp>
    </p:spTree>
    <p:extLst>
      <p:ext uri="{BB962C8B-B14F-4D97-AF65-F5344CB8AC3E}">
        <p14:creationId xmlns:p14="http://schemas.microsoft.com/office/powerpoint/2010/main" val="1931434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8C4B31-D6DD-4742-BA22-0633D25AC056}" type="datetimeFigureOut">
              <a:rPr lang="en-IN" smtClean="0"/>
              <a:t>25-06-2026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A089682-A6B0-4450-B348-D27F94DA94F3}" type="slidenum">
              <a:rPr lang="en-IN" smtClean="0"/>
              <a:t>‹#›</a:t>
            </a:fld>
            <a:endParaRPr lang="en-IN"/>
          </a:p>
        </p:txBody>
      </p:sp>
    </p:spTree>
    <p:extLst>
      <p:ext uri="{BB962C8B-B14F-4D97-AF65-F5344CB8AC3E}">
        <p14:creationId xmlns:p14="http://schemas.microsoft.com/office/powerpoint/2010/main" val="3264111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8C4B31-D6DD-4742-BA22-0633D25AC056}" type="datetimeFigureOut">
              <a:rPr lang="en-IN" smtClean="0"/>
              <a:t>25-06-2026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089682-A6B0-4450-B348-D27F94DA94F3}" type="slidenum">
              <a:rPr lang="en-IN" smtClean="0"/>
              <a:t>‹#›</a:t>
            </a:fld>
            <a:endParaRPr lang="en-IN"/>
          </a:p>
        </p:txBody>
      </p:sp>
    </p:spTree>
    <p:extLst>
      <p:ext uri="{BB962C8B-B14F-4D97-AF65-F5344CB8AC3E}">
        <p14:creationId xmlns:p14="http://schemas.microsoft.com/office/powerpoint/2010/main" val="3692599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8C4B31-D6DD-4742-BA22-0633D25AC056}" type="datetimeFigureOut">
              <a:rPr lang="en-IN" smtClean="0"/>
              <a:t>25-06-2026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089682-A6B0-4450-B348-D27F94DA94F3}" type="slidenum">
              <a:rPr lang="en-IN" smtClean="0"/>
              <a:t>‹#›</a:t>
            </a:fld>
            <a:endParaRPr lang="en-IN"/>
          </a:p>
        </p:txBody>
      </p:sp>
    </p:spTree>
    <p:extLst>
      <p:ext uri="{BB962C8B-B14F-4D97-AF65-F5344CB8AC3E}">
        <p14:creationId xmlns:p14="http://schemas.microsoft.com/office/powerpoint/2010/main" val="608933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38C4B31-D6DD-4742-BA22-0633D25AC056}"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089682-A6B0-4450-B348-D27F94DA94F3}" type="slidenum">
              <a:rPr lang="en-IN" smtClean="0"/>
              <a:t>‹#›</a:t>
            </a:fld>
            <a:endParaRPr lang="en-IN"/>
          </a:p>
        </p:txBody>
      </p:sp>
    </p:spTree>
    <p:extLst>
      <p:ext uri="{BB962C8B-B14F-4D97-AF65-F5344CB8AC3E}">
        <p14:creationId xmlns:p14="http://schemas.microsoft.com/office/powerpoint/2010/main" val="3847697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38C4B31-D6DD-4742-BA22-0633D25AC056}"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089682-A6B0-4450-B348-D27F94DA94F3}" type="slidenum">
              <a:rPr lang="en-IN" smtClean="0"/>
              <a:t>‹#›</a:t>
            </a:fld>
            <a:endParaRPr lang="en-IN"/>
          </a:p>
        </p:txBody>
      </p:sp>
    </p:spTree>
    <p:extLst>
      <p:ext uri="{BB962C8B-B14F-4D97-AF65-F5344CB8AC3E}">
        <p14:creationId xmlns:p14="http://schemas.microsoft.com/office/powerpoint/2010/main" val="1399998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8C4B31-D6DD-4742-BA22-0633D25AC056}" type="datetimeFigureOut">
              <a:rPr lang="en-IN" smtClean="0"/>
              <a:t>25-06-2026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089682-A6B0-4450-B348-D27F94DA94F3}" type="slidenum">
              <a:rPr lang="en-IN" smtClean="0"/>
              <a:t>‹#›</a:t>
            </a:fld>
            <a:endParaRPr lang="en-IN"/>
          </a:p>
        </p:txBody>
      </p:sp>
    </p:spTree>
    <p:extLst>
      <p:ext uri="{BB962C8B-B14F-4D97-AF65-F5344CB8AC3E}">
        <p14:creationId xmlns:p14="http://schemas.microsoft.com/office/powerpoint/2010/main" val="11621213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t="-4000" b="-18000"/>
          </a:stretch>
        </a:blip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a:xfrm>
            <a:off x="10229850" y="5286376"/>
            <a:ext cx="2114552" cy="1443038"/>
          </a:xfrm>
        </p:spPr>
        <p:txBody>
          <a:bodyPr>
            <a:normAutofit/>
          </a:bodyPr>
          <a:lstStyle/>
          <a:p>
            <a:pPr algn="l"/>
            <a:r>
              <a:rPr lang="en-US" sz="1600" b="1" dirty="0">
                <a:solidFill>
                  <a:schemeClr val="tx2">
                    <a:lumMod val="75000"/>
                  </a:schemeClr>
                </a:solidFill>
                <a:latin typeface="Times New Roman" panose="02020603050405020304" pitchFamily="18" charset="0"/>
                <a:cs typeface="Times New Roman" panose="02020603050405020304" pitchFamily="18" charset="0"/>
              </a:rPr>
              <a:t>Presented By</a:t>
            </a:r>
            <a:br>
              <a:rPr lang="en-US" sz="1600" b="1" dirty="0">
                <a:solidFill>
                  <a:schemeClr val="tx2">
                    <a:lumMod val="75000"/>
                  </a:schemeClr>
                </a:solidFill>
                <a:latin typeface="Times New Roman" panose="02020603050405020304" pitchFamily="18" charset="0"/>
                <a:cs typeface="Times New Roman" panose="02020603050405020304" pitchFamily="18" charset="0"/>
              </a:rPr>
            </a:br>
            <a:r>
              <a:rPr lang="en-US" sz="1600" b="1" dirty="0" err="1">
                <a:solidFill>
                  <a:schemeClr val="tx2">
                    <a:lumMod val="75000"/>
                  </a:schemeClr>
                </a:solidFill>
                <a:latin typeface="Times New Roman" panose="02020603050405020304" pitchFamily="18" charset="0"/>
                <a:cs typeface="Times New Roman" panose="02020603050405020304" pitchFamily="18" charset="0"/>
              </a:rPr>
              <a:t>Moumita</a:t>
            </a:r>
            <a:r>
              <a:rPr lang="en-US" sz="1600" b="1" dirty="0">
                <a:solidFill>
                  <a:schemeClr val="tx2">
                    <a:lumMod val="75000"/>
                  </a:schemeClr>
                </a:solidFill>
                <a:latin typeface="Times New Roman" panose="02020603050405020304" pitchFamily="18" charset="0"/>
                <a:cs typeface="Times New Roman" panose="02020603050405020304" pitchFamily="18" charset="0"/>
              </a:rPr>
              <a:t>  </a:t>
            </a:r>
            <a:r>
              <a:rPr lang="en-US" sz="1600" b="1" dirty="0" err="1">
                <a:solidFill>
                  <a:schemeClr val="tx2">
                    <a:lumMod val="75000"/>
                  </a:schemeClr>
                </a:solidFill>
                <a:latin typeface="Times New Roman" panose="02020603050405020304" pitchFamily="18" charset="0"/>
                <a:cs typeface="Times New Roman" panose="02020603050405020304" pitchFamily="18" charset="0"/>
              </a:rPr>
              <a:t>Samaddar</a:t>
            </a:r>
            <a:br>
              <a:rPr lang="en-US" sz="1600" b="1" dirty="0">
                <a:solidFill>
                  <a:schemeClr val="tx2">
                    <a:lumMod val="75000"/>
                  </a:schemeClr>
                </a:solidFill>
                <a:latin typeface="Times New Roman" panose="02020603050405020304" pitchFamily="18" charset="0"/>
                <a:cs typeface="Times New Roman" panose="02020603050405020304" pitchFamily="18" charset="0"/>
              </a:rPr>
            </a:br>
            <a:endParaRPr lang="en-IN" sz="1600" b="1"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Subtitle 5"/>
          <p:cNvSpPr>
            <a:spLocks noGrp="1"/>
          </p:cNvSpPr>
          <p:nvPr>
            <p:ph type="subTitle" idx="1"/>
          </p:nvPr>
        </p:nvSpPr>
        <p:spPr>
          <a:xfrm>
            <a:off x="0" y="0"/>
            <a:ext cx="12344400" cy="1643063"/>
          </a:xfrm>
        </p:spPr>
        <p:txBody>
          <a:bodyPr>
            <a:normAutofit/>
          </a:bodyPr>
          <a:lstStyle/>
          <a:p>
            <a:pPr>
              <a:lnSpc>
                <a:spcPct val="100000"/>
              </a:lnSpc>
            </a:pPr>
            <a:r>
              <a:rPr lang="en-US" sz="3600" b="1" dirty="0">
                <a:solidFill>
                  <a:schemeClr val="accent5">
                    <a:lumMod val="50000"/>
                  </a:schemeClr>
                </a:solidFill>
                <a:latin typeface="Times New Roman" panose="02020603050405020304" pitchFamily="18" charset="0"/>
                <a:cs typeface="Times New Roman" panose="02020603050405020304" pitchFamily="18" charset="0"/>
              </a:rPr>
              <a:t>Bank Analytical CRM</a:t>
            </a:r>
          </a:p>
          <a:p>
            <a:pPr>
              <a:lnSpc>
                <a:spcPct val="100000"/>
              </a:lnSpc>
            </a:pPr>
            <a:r>
              <a:rPr lang="en-US" b="1" dirty="0">
                <a:solidFill>
                  <a:schemeClr val="accent5">
                    <a:lumMod val="50000"/>
                  </a:schemeClr>
                </a:solidFill>
                <a:latin typeface="Times New Roman" panose="02020603050405020304" pitchFamily="18" charset="0"/>
                <a:cs typeface="Times New Roman" panose="02020603050405020304" pitchFamily="18" charset="0"/>
              </a:rPr>
              <a:t>Customer Retention Analysis Using CRM &amp; Data Analytics</a:t>
            </a:r>
            <a:endParaRPr lang="en-IN" b="1" dirty="0">
              <a:solidFill>
                <a:schemeClr val="accent5">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358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4" name="AutoShape 2" descr="Overcoming Challenges Implementing CRM in Bank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Overcoming Challenges Implementing CRM in Banki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Title 5"/>
          <p:cNvSpPr>
            <a:spLocks noGrp="1"/>
          </p:cNvSpPr>
          <p:nvPr>
            <p:ph type="ctrTitle"/>
          </p:nvPr>
        </p:nvSpPr>
        <p:spPr>
          <a:xfrm>
            <a:off x="155575" y="7937"/>
            <a:ext cx="10317163" cy="1092201"/>
          </a:xfrm>
        </p:spPr>
        <p:txBody>
          <a:bodyPr>
            <a:normAutofit/>
          </a:bodyPr>
          <a:lstStyle/>
          <a:p>
            <a:pPr algn="l"/>
            <a:r>
              <a:rPr lang="en-US" sz="4800" b="1" dirty="0">
                <a:solidFill>
                  <a:schemeClr val="accent5">
                    <a:lumMod val="75000"/>
                  </a:schemeClr>
                </a:solidFill>
                <a:latin typeface="Times New Roman" panose="02020603050405020304" pitchFamily="18" charset="0"/>
                <a:cs typeface="Times New Roman" panose="02020603050405020304" pitchFamily="18" charset="0"/>
              </a:rPr>
              <a:t>Agenda</a:t>
            </a:r>
            <a:endParaRPr lang="en-IN" sz="4800"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7" name="Subtitle 6"/>
          <p:cNvSpPr>
            <a:spLocks noGrp="1"/>
          </p:cNvSpPr>
          <p:nvPr>
            <p:ph type="subTitle" idx="1"/>
          </p:nvPr>
        </p:nvSpPr>
        <p:spPr>
          <a:xfrm>
            <a:off x="460374" y="1371600"/>
            <a:ext cx="11369675" cy="4929188"/>
          </a:xfrm>
        </p:spPr>
        <p:txBody>
          <a:bodyPr>
            <a:normAutofit fontScale="92500" lnSpcReduction="10000"/>
          </a:bodyPr>
          <a:lstStyle/>
          <a:p>
            <a:pPr marL="180000" lvl="0" indent="-180000" algn="l">
              <a:lnSpc>
                <a:spcPct val="150000"/>
              </a:lnSpc>
              <a:spcBef>
                <a:spcPts val="1200"/>
              </a:spcBef>
              <a:buClr>
                <a:schemeClr val="tx1"/>
              </a:buClr>
              <a:buSzPct val="102000"/>
              <a:buFont typeface="+mj-lt"/>
              <a:buAutoNum type="arabicPeriod"/>
            </a:pPr>
            <a:r>
              <a:rPr lang="en-US" sz="2600" dirty="0">
                <a:solidFill>
                  <a:schemeClr val="tx1">
                    <a:lumMod val="95000"/>
                    <a:lumOff val="5000"/>
                  </a:schemeClr>
                </a:solidFill>
                <a:latin typeface="Times New Roman"/>
                <a:ea typeface="Times New Roman"/>
                <a:cs typeface="Times New Roman"/>
                <a:sym typeface="Times New Roman"/>
              </a:rPr>
              <a:t> Introduction</a:t>
            </a:r>
          </a:p>
          <a:p>
            <a:pPr marL="180000" lvl="0" indent="-180000" algn="l">
              <a:lnSpc>
                <a:spcPct val="150000"/>
              </a:lnSpc>
              <a:spcBef>
                <a:spcPts val="0"/>
              </a:spcBef>
              <a:buClr>
                <a:schemeClr val="tx1"/>
              </a:buClr>
              <a:buSzPct val="102000"/>
              <a:buFont typeface="+mj-lt"/>
              <a:buAutoNum type="arabicPeriod"/>
            </a:pPr>
            <a:r>
              <a:rPr lang="en-US" sz="2600" dirty="0">
                <a:solidFill>
                  <a:schemeClr val="tx1">
                    <a:lumMod val="95000"/>
                    <a:lumOff val="5000"/>
                  </a:schemeClr>
                </a:solidFill>
                <a:latin typeface="Times New Roman"/>
                <a:ea typeface="Times New Roman"/>
                <a:cs typeface="Times New Roman"/>
                <a:sym typeface="Times New Roman"/>
              </a:rPr>
              <a:t> Project Aim</a:t>
            </a:r>
          </a:p>
          <a:p>
            <a:pPr marL="180000" lvl="0" indent="-180000" algn="l">
              <a:lnSpc>
                <a:spcPct val="150000"/>
              </a:lnSpc>
              <a:spcBef>
                <a:spcPts val="0"/>
              </a:spcBef>
              <a:buClr>
                <a:schemeClr val="tx1"/>
              </a:buClr>
              <a:buSzPct val="102000"/>
              <a:buFont typeface="+mj-lt"/>
              <a:buAutoNum type="arabicPeriod"/>
            </a:pPr>
            <a:r>
              <a:rPr lang="en-US" sz="2600" dirty="0">
                <a:solidFill>
                  <a:schemeClr val="tx1">
                    <a:lumMod val="95000"/>
                    <a:lumOff val="5000"/>
                  </a:schemeClr>
                </a:solidFill>
                <a:latin typeface="Times New Roman"/>
                <a:ea typeface="Times New Roman"/>
                <a:cs typeface="Times New Roman"/>
                <a:sym typeface="Times New Roman"/>
              </a:rPr>
              <a:t> Problem Statement</a:t>
            </a:r>
          </a:p>
          <a:p>
            <a:pPr marL="180000" lvl="0" indent="-180000" algn="l">
              <a:lnSpc>
                <a:spcPct val="150000"/>
              </a:lnSpc>
              <a:spcBef>
                <a:spcPts val="0"/>
              </a:spcBef>
              <a:buClr>
                <a:schemeClr val="tx1"/>
              </a:buClr>
              <a:buSzPct val="102000"/>
              <a:buFont typeface="+mj-lt"/>
              <a:buAutoNum type="arabicPeriod"/>
            </a:pPr>
            <a:r>
              <a:rPr lang="en-US" sz="2600" dirty="0">
                <a:solidFill>
                  <a:schemeClr val="tx1">
                    <a:lumMod val="95000"/>
                    <a:lumOff val="5000"/>
                  </a:schemeClr>
                </a:solidFill>
                <a:latin typeface="Times New Roman"/>
                <a:ea typeface="Times New Roman"/>
                <a:cs typeface="Times New Roman"/>
                <a:sym typeface="Times New Roman"/>
              </a:rPr>
              <a:t> Data Overview</a:t>
            </a:r>
          </a:p>
          <a:p>
            <a:pPr marL="180000" lvl="0" indent="-180000" algn="l">
              <a:lnSpc>
                <a:spcPct val="150000"/>
              </a:lnSpc>
              <a:spcBef>
                <a:spcPts val="0"/>
              </a:spcBef>
              <a:buClr>
                <a:schemeClr val="tx1"/>
              </a:buClr>
              <a:buSzPct val="102000"/>
              <a:buFont typeface="+mj-lt"/>
              <a:buAutoNum type="arabicPeriod"/>
            </a:pPr>
            <a:r>
              <a:rPr lang="en-US" sz="2600" dirty="0">
                <a:solidFill>
                  <a:schemeClr val="tx1">
                    <a:lumMod val="95000"/>
                    <a:lumOff val="5000"/>
                  </a:schemeClr>
                </a:solidFill>
                <a:latin typeface="Times New Roman"/>
                <a:ea typeface="Times New Roman"/>
                <a:cs typeface="Times New Roman"/>
                <a:sym typeface="Times New Roman"/>
              </a:rPr>
              <a:t> Metrics and their Insights</a:t>
            </a:r>
          </a:p>
          <a:p>
            <a:pPr marL="180000" lvl="0" indent="-180000" algn="l">
              <a:lnSpc>
                <a:spcPct val="150000"/>
              </a:lnSpc>
              <a:spcBef>
                <a:spcPts val="0"/>
              </a:spcBef>
              <a:buClr>
                <a:schemeClr val="tx1"/>
              </a:buClr>
              <a:buSzPct val="102000"/>
              <a:buFont typeface="+mj-lt"/>
              <a:buAutoNum type="arabicPeriod"/>
            </a:pPr>
            <a:r>
              <a:rPr lang="en-US" sz="2600" dirty="0">
                <a:solidFill>
                  <a:schemeClr val="tx1">
                    <a:lumMod val="95000"/>
                    <a:lumOff val="5000"/>
                  </a:schemeClr>
                </a:solidFill>
                <a:latin typeface="Times New Roman"/>
                <a:ea typeface="Times New Roman"/>
                <a:cs typeface="Times New Roman"/>
                <a:sym typeface="Times New Roman"/>
              </a:rPr>
              <a:t> Dashboards</a:t>
            </a:r>
          </a:p>
          <a:p>
            <a:pPr marL="180000" lvl="0" indent="-180000" algn="l">
              <a:lnSpc>
                <a:spcPct val="150000"/>
              </a:lnSpc>
              <a:spcBef>
                <a:spcPts val="0"/>
              </a:spcBef>
              <a:buClr>
                <a:schemeClr val="tx1"/>
              </a:buClr>
              <a:buSzPct val="102000"/>
              <a:buFont typeface="+mj-lt"/>
              <a:buAutoNum type="arabicPeriod"/>
            </a:pPr>
            <a:r>
              <a:rPr lang="en-US" sz="2600" dirty="0">
                <a:solidFill>
                  <a:schemeClr val="tx1">
                    <a:lumMod val="95000"/>
                    <a:lumOff val="5000"/>
                  </a:schemeClr>
                </a:solidFill>
                <a:latin typeface="Times New Roman"/>
                <a:ea typeface="Times New Roman"/>
                <a:cs typeface="Times New Roman"/>
                <a:sym typeface="Times New Roman"/>
              </a:rPr>
              <a:t> Data Challenges in Churn Analysis</a:t>
            </a:r>
          </a:p>
          <a:p>
            <a:pPr marL="180000" lvl="0" indent="-180000" algn="l">
              <a:lnSpc>
                <a:spcPct val="150000"/>
              </a:lnSpc>
              <a:spcBef>
                <a:spcPts val="0"/>
              </a:spcBef>
              <a:buClr>
                <a:schemeClr val="tx1"/>
              </a:buClr>
              <a:buSzPct val="102000"/>
              <a:buFont typeface="+mj-lt"/>
              <a:buAutoNum type="arabicPeriod"/>
            </a:pPr>
            <a:r>
              <a:rPr lang="en-US" sz="2600">
                <a:solidFill>
                  <a:schemeClr val="tx1">
                    <a:lumMod val="95000"/>
                    <a:lumOff val="5000"/>
                  </a:schemeClr>
                </a:solidFill>
                <a:latin typeface="Times New Roman"/>
                <a:ea typeface="Times New Roman"/>
                <a:cs typeface="Times New Roman"/>
                <a:sym typeface="Times New Roman"/>
              </a:rPr>
              <a:t> Recommendations</a:t>
            </a:r>
            <a:endParaRPr lang="en-US" sz="2600" dirty="0">
              <a:solidFill>
                <a:schemeClr val="tx1">
                  <a:lumMod val="95000"/>
                  <a:lumOff val="5000"/>
                </a:schemeClr>
              </a:solidFill>
              <a:latin typeface="Times New Roman"/>
              <a:ea typeface="Times New Roman"/>
              <a:cs typeface="Times New Roman"/>
              <a:sym typeface="Times New Roman"/>
            </a:endParaRPr>
          </a:p>
          <a:p>
            <a:pPr marL="180000" lvl="0" indent="-180000" algn="l">
              <a:lnSpc>
                <a:spcPct val="150000"/>
              </a:lnSpc>
              <a:spcBef>
                <a:spcPts val="0"/>
              </a:spcBef>
              <a:buClr>
                <a:schemeClr val="tx1"/>
              </a:buClr>
              <a:buSzPct val="102000"/>
              <a:buFont typeface="+mj-lt"/>
              <a:buAutoNum type="arabicPeriod"/>
            </a:pPr>
            <a:r>
              <a:rPr lang="en-US" sz="2600" dirty="0">
                <a:solidFill>
                  <a:schemeClr val="tx1">
                    <a:lumMod val="95000"/>
                    <a:lumOff val="5000"/>
                  </a:schemeClr>
                </a:solidFill>
                <a:latin typeface="Times New Roman"/>
                <a:ea typeface="Times New Roman"/>
                <a:cs typeface="Times New Roman"/>
                <a:sym typeface="Times New Roman"/>
              </a:rPr>
              <a:t> Conclusion</a:t>
            </a:r>
            <a:endParaRPr lang="en-US" sz="2600" dirty="0">
              <a:solidFill>
                <a:schemeClr val="tx1">
                  <a:lumMod val="95000"/>
                  <a:lumOff val="5000"/>
                </a:schemeClr>
              </a:solidFill>
            </a:endParaRPr>
          </a:p>
          <a:p>
            <a:endParaRPr lang="en-IN" dirty="0"/>
          </a:p>
        </p:txBody>
      </p:sp>
      <p:pic>
        <p:nvPicPr>
          <p:cNvPr id="2054" name="Picture 6" descr="Agenda Images – Browse 875,510 Stock Photos, Vectors, a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6413" y="0"/>
            <a:ext cx="6605587"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6910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8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86188" y="1"/>
            <a:ext cx="7567612" cy="1428750"/>
          </a:xfrm>
        </p:spPr>
        <p:txBody>
          <a:bodyPr>
            <a:normAutofit/>
          </a:bodyPr>
          <a:lstStyle/>
          <a:p>
            <a:r>
              <a:rPr lang="en-US" sz="4800" b="1" dirty="0">
                <a:solidFill>
                  <a:schemeClr val="accent5">
                    <a:lumMod val="75000"/>
                  </a:schemeClr>
                </a:solidFill>
                <a:latin typeface="Times New Roman" panose="02020603050405020304" pitchFamily="18" charset="0"/>
                <a:cs typeface="Times New Roman" panose="02020603050405020304" pitchFamily="18" charset="0"/>
              </a:rPr>
              <a:t>Introduction</a:t>
            </a:r>
            <a:endParaRPr lang="en-IN" sz="4800"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42887" y="1528355"/>
            <a:ext cx="11949113" cy="4648608"/>
          </a:xfrm>
        </p:spPr>
        <p:txBody>
          <a:bodyPr/>
          <a:lstStyle/>
          <a:p>
            <a:pPr marL="0" lvl="0" indent="0">
              <a:lnSpc>
                <a:spcPct val="100000"/>
              </a:lnSpc>
              <a:spcBef>
                <a:spcPts val="500"/>
              </a:spcBef>
              <a:buClr>
                <a:schemeClr val="dk1"/>
              </a:buClr>
              <a:buSzPts val="1100"/>
              <a:buNone/>
            </a:pPr>
            <a:r>
              <a:rPr lang="en-US" sz="2000" dirty="0">
                <a:solidFill>
                  <a:schemeClr val="tx1">
                    <a:lumMod val="95000"/>
                    <a:lumOff val="5000"/>
                  </a:schemeClr>
                </a:solidFill>
                <a:latin typeface="Times New Roman"/>
                <a:ea typeface="Times New Roman"/>
                <a:cs typeface="Times New Roman"/>
                <a:sym typeface="Times New Roman"/>
              </a:rPr>
              <a:t>This analysis focuses on understanding customer churn patterns within a retail bank. By examining key factors such as demographics, geography, financial behavior, and customer engagement, the study aims to:</a:t>
            </a:r>
          </a:p>
          <a:p>
            <a:pPr marL="457200" lvl="0" indent="-323850">
              <a:lnSpc>
                <a:spcPct val="100000"/>
              </a:lnSpc>
              <a:spcBef>
                <a:spcPts val="500"/>
              </a:spcBef>
              <a:buClr>
                <a:schemeClr val="lt1"/>
              </a:buClr>
              <a:buSzPts val="1500"/>
              <a:buChar char="●"/>
            </a:pPr>
            <a:endParaRPr lang="en-US" sz="2000" dirty="0">
              <a:solidFill>
                <a:schemeClr val="tx1">
                  <a:lumMod val="95000"/>
                  <a:lumOff val="5000"/>
                </a:schemeClr>
              </a:solidFill>
              <a:latin typeface="Times New Roman"/>
              <a:ea typeface="Times New Roman"/>
              <a:cs typeface="Times New Roman"/>
              <a:sym typeface="Times New Roman"/>
            </a:endParaRPr>
          </a:p>
          <a:p>
            <a:pPr marL="476250" lvl="0" indent="-342900">
              <a:lnSpc>
                <a:spcPct val="100000"/>
              </a:lnSpc>
              <a:spcBef>
                <a:spcPts val="500"/>
              </a:spcBef>
              <a:buClr>
                <a:schemeClr val="tx1"/>
              </a:buClr>
              <a:buSzPts val="1500"/>
            </a:pPr>
            <a:r>
              <a:rPr lang="en-US" sz="2000" dirty="0">
                <a:solidFill>
                  <a:schemeClr val="tx1">
                    <a:lumMod val="95000"/>
                    <a:lumOff val="5000"/>
                  </a:schemeClr>
                </a:solidFill>
                <a:latin typeface="Times New Roman"/>
                <a:ea typeface="Times New Roman"/>
                <a:cs typeface="Times New Roman"/>
                <a:sym typeface="Times New Roman"/>
              </a:rPr>
              <a:t> Identify </a:t>
            </a:r>
            <a:r>
              <a:rPr lang="en-US" sz="2000" b="1" dirty="0">
                <a:solidFill>
                  <a:schemeClr val="tx1">
                    <a:lumMod val="95000"/>
                    <a:lumOff val="5000"/>
                  </a:schemeClr>
                </a:solidFill>
                <a:latin typeface="Times New Roman"/>
                <a:ea typeface="Times New Roman"/>
                <a:cs typeface="Times New Roman"/>
                <a:sym typeface="Times New Roman"/>
              </a:rPr>
              <a:t>who is leaving</a:t>
            </a:r>
            <a:r>
              <a:rPr lang="en-US" sz="2000" dirty="0">
                <a:solidFill>
                  <a:schemeClr val="tx1">
                    <a:lumMod val="95000"/>
                    <a:lumOff val="5000"/>
                  </a:schemeClr>
                </a:solidFill>
                <a:latin typeface="Times New Roman"/>
                <a:ea typeface="Times New Roman"/>
                <a:cs typeface="Times New Roman"/>
                <a:sym typeface="Times New Roman"/>
              </a:rPr>
              <a:t> and </a:t>
            </a:r>
            <a:r>
              <a:rPr lang="en-US" sz="2000" b="1" dirty="0">
                <a:solidFill>
                  <a:schemeClr val="tx1">
                    <a:lumMod val="95000"/>
                    <a:lumOff val="5000"/>
                  </a:schemeClr>
                </a:solidFill>
                <a:latin typeface="Times New Roman"/>
                <a:ea typeface="Times New Roman"/>
                <a:cs typeface="Times New Roman"/>
                <a:sym typeface="Times New Roman"/>
              </a:rPr>
              <a:t>why.</a:t>
            </a:r>
          </a:p>
          <a:p>
            <a:pPr marL="590550" lvl="0" indent="-457200">
              <a:lnSpc>
                <a:spcPct val="100000"/>
              </a:lnSpc>
              <a:spcBef>
                <a:spcPts val="500"/>
              </a:spcBef>
              <a:buClr>
                <a:schemeClr val="tx1"/>
              </a:buClr>
              <a:buSzPts val="1500"/>
            </a:pPr>
            <a:r>
              <a:rPr lang="en-US" sz="2000" dirty="0">
                <a:solidFill>
                  <a:schemeClr val="tx1">
                    <a:lumMod val="95000"/>
                    <a:lumOff val="5000"/>
                  </a:schemeClr>
                </a:solidFill>
                <a:latin typeface="Times New Roman"/>
                <a:ea typeface="Times New Roman"/>
                <a:cs typeface="Times New Roman"/>
                <a:sym typeface="Times New Roman"/>
              </a:rPr>
              <a:t>Highlight </a:t>
            </a:r>
            <a:r>
              <a:rPr lang="en-US" sz="2000" b="1" dirty="0">
                <a:solidFill>
                  <a:schemeClr val="tx1">
                    <a:lumMod val="95000"/>
                    <a:lumOff val="5000"/>
                  </a:schemeClr>
                </a:solidFill>
                <a:latin typeface="Times New Roman"/>
                <a:ea typeface="Times New Roman"/>
                <a:cs typeface="Times New Roman"/>
                <a:sym typeface="Times New Roman"/>
              </a:rPr>
              <a:t>high-risk customer segments.</a:t>
            </a:r>
          </a:p>
          <a:p>
            <a:pPr marL="590550" lvl="0" indent="-457200">
              <a:lnSpc>
                <a:spcPct val="100000"/>
              </a:lnSpc>
              <a:spcBef>
                <a:spcPts val="500"/>
              </a:spcBef>
              <a:buClr>
                <a:schemeClr val="tx1"/>
              </a:buClr>
              <a:buSzPts val="1500"/>
            </a:pPr>
            <a:r>
              <a:rPr lang="en-US" sz="2000" dirty="0">
                <a:solidFill>
                  <a:schemeClr val="tx1">
                    <a:lumMod val="95000"/>
                    <a:lumOff val="5000"/>
                  </a:schemeClr>
                </a:solidFill>
                <a:latin typeface="Times New Roman"/>
                <a:ea typeface="Times New Roman"/>
                <a:cs typeface="Times New Roman"/>
                <a:sym typeface="Times New Roman"/>
              </a:rPr>
              <a:t>Develop </a:t>
            </a:r>
            <a:r>
              <a:rPr lang="en-US" sz="2000" b="1" dirty="0">
                <a:solidFill>
                  <a:schemeClr val="tx1">
                    <a:lumMod val="95000"/>
                    <a:lumOff val="5000"/>
                  </a:schemeClr>
                </a:solidFill>
                <a:latin typeface="Times New Roman"/>
                <a:ea typeface="Times New Roman"/>
                <a:cs typeface="Times New Roman"/>
                <a:sym typeface="Times New Roman"/>
              </a:rPr>
              <a:t>data-driven strategies</a:t>
            </a:r>
            <a:r>
              <a:rPr lang="en-US" sz="2000" dirty="0">
                <a:solidFill>
                  <a:schemeClr val="tx1">
                    <a:lumMod val="95000"/>
                    <a:lumOff val="5000"/>
                  </a:schemeClr>
                </a:solidFill>
                <a:latin typeface="Times New Roman"/>
                <a:ea typeface="Times New Roman"/>
                <a:cs typeface="Times New Roman"/>
                <a:sym typeface="Times New Roman"/>
              </a:rPr>
              <a:t> to reduce churn, improve service quality, and enhance overall customer satisfaction.</a:t>
            </a:r>
          </a:p>
          <a:p>
            <a:pPr marL="0" indent="0">
              <a:buNone/>
            </a:pPr>
            <a:endParaRPr lang="en-IN" dirty="0"/>
          </a:p>
        </p:txBody>
      </p:sp>
      <p:pic>
        <p:nvPicPr>
          <p:cNvPr id="1026" name="Picture 2" descr="CRM in Banking: Key Benefits, Challenges &amp; Featur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3336" y="3892731"/>
            <a:ext cx="4286658" cy="267325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4085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ECEC0C-D62F-4B4D-ACF7-143C407A526B}"/>
              </a:ext>
            </a:extLst>
          </p:cNvPr>
          <p:cNvSpPr>
            <a:spLocks noGrp="1"/>
          </p:cNvSpPr>
          <p:nvPr>
            <p:ph type="ctrTitle"/>
          </p:nvPr>
        </p:nvSpPr>
        <p:spPr>
          <a:xfrm>
            <a:off x="1007164" y="251791"/>
            <a:ext cx="8719931" cy="755374"/>
          </a:xfrm>
        </p:spPr>
        <p:txBody>
          <a:bodyPr>
            <a:normAutofit/>
          </a:bodyPr>
          <a:lstStyle/>
          <a:p>
            <a:r>
              <a:rPr lang="en-US" sz="4400" b="1">
                <a:solidFill>
                  <a:srgbClr val="002060"/>
                </a:solidFill>
                <a:latin typeface="Times New Roman" panose="02020603050405020304" pitchFamily="18" charset="0"/>
                <a:cs typeface="Times New Roman" panose="02020603050405020304" pitchFamily="18" charset="0"/>
              </a:rPr>
              <a:t>Project Aim</a:t>
            </a:r>
            <a:endParaRPr lang="en-IN" sz="4400" b="1">
              <a:solidFill>
                <a:srgbClr val="002060"/>
              </a:solidFill>
              <a:latin typeface="Times New Roman" panose="02020603050405020304" pitchFamily="18" charset="0"/>
              <a:cs typeface="Times New Roman" panose="02020603050405020304" pitchFamily="18" charset="0"/>
            </a:endParaRPr>
          </a:p>
        </p:txBody>
      </p:sp>
      <p:sp>
        <p:nvSpPr>
          <p:cNvPr id="4" name="Subtitle 3">
            <a:extLst>
              <a:ext uri="{FF2B5EF4-FFF2-40B4-BE49-F238E27FC236}">
                <a16:creationId xmlns:a16="http://schemas.microsoft.com/office/drawing/2014/main" id="{17590DF7-3DCD-4193-B5DF-9BA58385B9AC}"/>
              </a:ext>
            </a:extLst>
          </p:cNvPr>
          <p:cNvSpPr>
            <a:spLocks noGrp="1"/>
          </p:cNvSpPr>
          <p:nvPr>
            <p:ph type="subTitle" idx="1"/>
          </p:nvPr>
        </p:nvSpPr>
        <p:spPr>
          <a:xfrm>
            <a:off x="702365" y="1616765"/>
            <a:ext cx="11052313" cy="4359964"/>
          </a:xfrm>
        </p:spPr>
        <p:txBody>
          <a:bodyPr>
            <a:normAutofit/>
          </a:bodyPr>
          <a:lstStyle/>
          <a:p>
            <a:pPr marL="0" lvl="0" indent="0" algn="l" rtl="0">
              <a:lnSpc>
                <a:spcPct val="150000"/>
              </a:lnSpc>
              <a:spcBef>
                <a:spcPts val="500"/>
              </a:spcBef>
              <a:spcAft>
                <a:spcPts val="0"/>
              </a:spcAft>
              <a:buClr>
                <a:schemeClr val="dk1"/>
              </a:buClr>
              <a:buSzPts val="1100"/>
              <a:buFont typeface="Arial"/>
              <a:buNone/>
            </a:pPr>
            <a:r>
              <a:rPr lang="en-US" sz="2400">
                <a:latin typeface="Times New Roman"/>
                <a:ea typeface="Times New Roman"/>
                <a:cs typeface="Times New Roman"/>
                <a:sym typeface="Times New Roman"/>
              </a:rPr>
              <a:t>The aim of this project is to analyze customer demographics, financial profiles, and behavioral patterns to identify the key factors driving customer churn.</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By uncovering these insights, the analysis seeks to:</a:t>
            </a:r>
          </a:p>
          <a:p>
            <a:pPr marL="0" lvl="0" indent="0" algn="l" rtl="0">
              <a:lnSpc>
                <a:spcPct val="100000"/>
              </a:lnSpc>
              <a:spcBef>
                <a:spcPts val="500"/>
              </a:spcBef>
              <a:spcAft>
                <a:spcPts val="0"/>
              </a:spcAft>
              <a:buClr>
                <a:schemeClr val="dk1"/>
              </a:buClr>
              <a:buSzPts val="1100"/>
              <a:buFont typeface="Arial"/>
              <a:buNone/>
            </a:pPr>
            <a:endParaRPr lang="en-US" sz="2400">
              <a:latin typeface="Times New Roman"/>
              <a:ea typeface="Times New Roman"/>
              <a:cs typeface="Times New Roman"/>
              <a:sym typeface="Times New Roman"/>
            </a:endParaRPr>
          </a:p>
          <a:p>
            <a:pPr marL="457200" lvl="0" indent="-323850" algn="l" rtl="0">
              <a:lnSpc>
                <a:spcPct val="100000"/>
              </a:lnSpc>
              <a:spcBef>
                <a:spcPts val="500"/>
              </a:spcBef>
              <a:spcAft>
                <a:spcPts val="0"/>
              </a:spcAft>
              <a:buClr>
                <a:schemeClr val="tx1"/>
              </a:buClr>
              <a:buSzPts val="1500"/>
              <a:buChar char="●"/>
            </a:pPr>
            <a:r>
              <a:rPr lang="en-US" sz="2400" b="1">
                <a:latin typeface="Times New Roman"/>
                <a:ea typeface="Times New Roman"/>
                <a:cs typeface="Times New Roman"/>
                <a:sym typeface="Times New Roman"/>
              </a:rPr>
              <a:t>Reduce customer attrition</a:t>
            </a:r>
            <a:r>
              <a:rPr lang="en-US" sz="2400">
                <a:latin typeface="Times New Roman"/>
                <a:ea typeface="Times New Roman"/>
                <a:cs typeface="Times New Roman"/>
                <a:sym typeface="Times New Roman"/>
              </a:rPr>
              <a:t> through targeted retention strategies</a:t>
            </a:r>
          </a:p>
          <a:p>
            <a:pPr marL="457200" lvl="0" indent="-323850" algn="l" rtl="0">
              <a:lnSpc>
                <a:spcPct val="100000"/>
              </a:lnSpc>
              <a:spcBef>
                <a:spcPts val="500"/>
              </a:spcBef>
              <a:spcAft>
                <a:spcPts val="0"/>
              </a:spcAft>
              <a:buClr>
                <a:schemeClr val="tx1"/>
              </a:buClr>
              <a:buSzPts val="1500"/>
              <a:buChar char="●"/>
            </a:pPr>
            <a:r>
              <a:rPr lang="en-US" sz="2400" b="1">
                <a:latin typeface="Times New Roman"/>
                <a:ea typeface="Times New Roman"/>
                <a:cs typeface="Times New Roman"/>
                <a:sym typeface="Times New Roman"/>
              </a:rPr>
              <a:t>Improve service delivery efficiency</a:t>
            </a:r>
            <a:r>
              <a:rPr lang="en-US" sz="2400">
                <a:latin typeface="Times New Roman"/>
                <a:ea typeface="Times New Roman"/>
                <a:cs typeface="Times New Roman"/>
                <a:sym typeface="Times New Roman"/>
              </a:rPr>
              <a:t> across banking operations</a:t>
            </a:r>
          </a:p>
          <a:p>
            <a:pPr marL="457200" lvl="0" indent="-323850" algn="l" rtl="0">
              <a:lnSpc>
                <a:spcPct val="100000"/>
              </a:lnSpc>
              <a:spcBef>
                <a:spcPts val="500"/>
              </a:spcBef>
              <a:spcAft>
                <a:spcPts val="0"/>
              </a:spcAft>
              <a:buClr>
                <a:schemeClr val="tx1"/>
              </a:buClr>
              <a:buSzPts val="1500"/>
              <a:buFont typeface="Times New Roman"/>
              <a:buChar char="●"/>
            </a:pPr>
            <a:r>
              <a:rPr lang="en-US" sz="2400" b="1">
                <a:latin typeface="Times New Roman"/>
                <a:ea typeface="Times New Roman"/>
                <a:cs typeface="Times New Roman"/>
                <a:sym typeface="Times New Roman"/>
              </a:rPr>
              <a:t>Enhance overall customer satisfaction and loyalty</a:t>
            </a:r>
            <a:br>
              <a:rPr lang="en-US" sz="2400" b="1">
                <a:latin typeface="Times New Roman"/>
                <a:ea typeface="Times New Roman"/>
                <a:cs typeface="Times New Roman"/>
                <a:sym typeface="Times New Roman"/>
              </a:rPr>
            </a:br>
            <a:endParaRPr lang="en-US" sz="2400" b="1">
              <a:latin typeface="Times New Roman"/>
              <a:ea typeface="Times New Roman"/>
              <a:cs typeface="Times New Roman"/>
              <a:sym typeface="Times New Roman"/>
            </a:endParaRPr>
          </a:p>
          <a:p>
            <a:endParaRPr lang="en-IN"/>
          </a:p>
        </p:txBody>
      </p:sp>
    </p:spTree>
    <p:extLst>
      <p:ext uri="{BB962C8B-B14F-4D97-AF65-F5344CB8AC3E}">
        <p14:creationId xmlns:p14="http://schemas.microsoft.com/office/powerpoint/2010/main" val="39754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1524000" y="0"/>
            <a:ext cx="9144000" cy="1020418"/>
          </a:xfrm>
        </p:spPr>
        <p:txBody>
          <a:bodyPr>
            <a:normAutofit/>
          </a:bodyPr>
          <a:lstStyle/>
          <a:p>
            <a:r>
              <a:rPr lang="en-US" sz="4400" b="1">
                <a:solidFill>
                  <a:srgbClr val="002060"/>
                </a:solidFill>
                <a:latin typeface="Times New Roman" panose="02020603050405020304" pitchFamily="18" charset="0"/>
                <a:cs typeface="Times New Roman" panose="02020603050405020304" pitchFamily="18" charset="0"/>
              </a:rPr>
              <a:t>Problem Statement</a:t>
            </a:r>
            <a:endParaRPr lang="en-IN" sz="4400" b="1">
              <a:solidFill>
                <a:srgbClr val="002060"/>
              </a:solidFill>
              <a:latin typeface="Times New Roman" panose="02020603050405020304" pitchFamily="18" charset="0"/>
              <a:cs typeface="Times New Roman" panose="02020603050405020304" pitchFamily="18" charset="0"/>
            </a:endParaRPr>
          </a:p>
        </p:txBody>
      </p:sp>
      <p:sp>
        <p:nvSpPr>
          <p:cNvPr id="4" name="Subtitle 3"/>
          <p:cNvSpPr>
            <a:spLocks noGrp="1"/>
          </p:cNvSpPr>
          <p:nvPr>
            <p:ph type="subTitle" idx="1"/>
          </p:nvPr>
        </p:nvSpPr>
        <p:spPr>
          <a:xfrm>
            <a:off x="477077" y="1749287"/>
            <a:ext cx="11211339" cy="4227443"/>
          </a:xfrm>
        </p:spPr>
        <p:txBody>
          <a:bodyPr>
            <a:normAutofit/>
          </a:bodyPr>
          <a:lstStyle/>
          <a:p>
            <a:pPr>
              <a:lnSpc>
                <a:spcPct val="170000"/>
              </a:lnSpc>
            </a:pPr>
            <a:r>
              <a:rPr lang="en-US" sz="2400">
                <a:latin typeface="Times New Roman"/>
                <a:ea typeface="Times New Roman"/>
                <a:cs typeface="Times New Roman"/>
                <a:sym typeface="Times New Roman"/>
              </a:rPr>
              <a:t>You are an analytical CRM (Customer Relationship Management) specialist hired by a bank to extract meaningful insights from various customer-related datasets. The bank aims to reduce customer churn, improve service delivery, and enhance customer satisfaction. They have provided you with datasets including customer demographics, transaction details, customer exit information, and active customer profiles.</a:t>
            </a:r>
          </a:p>
          <a:p>
            <a:pPr>
              <a:lnSpc>
                <a:spcPct val="170000"/>
              </a:lnSpc>
            </a:pPr>
            <a:endParaRPr lang="en-IN"/>
          </a:p>
        </p:txBody>
      </p:sp>
    </p:spTree>
    <p:extLst>
      <p:ext uri="{BB962C8B-B14F-4D97-AF65-F5344CB8AC3E}">
        <p14:creationId xmlns:p14="http://schemas.microsoft.com/office/powerpoint/2010/main" val="1731908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71874" y="365125"/>
            <a:ext cx="7781925" cy="1325563"/>
          </a:xfrm>
        </p:spPr>
        <p:txBody>
          <a:bodyPr/>
          <a:lstStyle/>
          <a:p>
            <a:r>
              <a:rPr lang="en-US" b="1" dirty="0">
                <a:solidFill>
                  <a:schemeClr val="accent5">
                    <a:lumMod val="75000"/>
                  </a:schemeClr>
                </a:solidFill>
                <a:latin typeface="Times New Roman" panose="02020603050405020304" pitchFamily="18" charset="0"/>
                <a:cs typeface="Times New Roman" panose="02020603050405020304" pitchFamily="18" charset="0"/>
              </a:rPr>
              <a:t>Data Overview</a:t>
            </a:r>
            <a:endParaRPr lang="en-IN" b="1" dirty="0">
              <a:solidFill>
                <a:schemeClr val="accent5">
                  <a:lumMod val="75000"/>
                </a:schemeClr>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E815083-9FC8-42F6-99F2-9AC97A60CF7D}"/>
              </a:ext>
            </a:extLst>
          </p:cNvPr>
          <p:cNvPicPr>
            <a:picLocks noChangeAspect="1"/>
          </p:cNvPicPr>
          <p:nvPr/>
        </p:nvPicPr>
        <p:blipFill rotWithShape="1">
          <a:blip r:embed="rId2">
            <a:extLst>
              <a:ext uri="{28A0092B-C50C-407E-A947-70E740481C1C}">
                <a14:useLocalDpi xmlns:a14="http://schemas.microsoft.com/office/drawing/2010/main" val="0"/>
              </a:ext>
            </a:extLst>
          </a:blip>
          <a:srcRect l="2826" t="24641" r="6875" b="13025"/>
          <a:stretch/>
        </p:blipFill>
        <p:spPr>
          <a:xfrm>
            <a:off x="344556" y="1690687"/>
            <a:ext cx="11516140" cy="4908895"/>
          </a:xfrm>
          <a:prstGeom prst="rect">
            <a:avLst/>
          </a:prstGeom>
          <a:ln>
            <a:solidFill>
              <a:schemeClr val="tx1"/>
            </a:solidFill>
          </a:ln>
        </p:spPr>
      </p:pic>
    </p:spTree>
    <p:extLst>
      <p:ext uri="{BB962C8B-B14F-4D97-AF65-F5344CB8AC3E}">
        <p14:creationId xmlns:p14="http://schemas.microsoft.com/office/powerpoint/2010/main" val="362952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7162" y="0"/>
            <a:ext cx="11015663" cy="1471613"/>
          </a:xfrm>
        </p:spPr>
        <p:txBody>
          <a:bodyPr>
            <a:normAutofit/>
          </a:bodyPr>
          <a:lstStyle/>
          <a:p>
            <a:pPr algn="l"/>
            <a:r>
              <a:rPr lang="en-US" sz="2200" dirty="0">
                <a:solidFill>
                  <a:schemeClr val="tx1">
                    <a:lumMod val="95000"/>
                    <a:lumOff val="5000"/>
                  </a:schemeClr>
                </a:solidFill>
                <a:latin typeface="Times New Roman"/>
                <a:ea typeface="Times New Roman"/>
                <a:cs typeface="Times New Roman"/>
                <a:sym typeface="Times New Roman"/>
              </a:rPr>
              <a:t>The image above displays details about Bank Customer data, including:</a:t>
            </a:r>
            <a:br>
              <a:rPr lang="en-US" dirty="0">
                <a:solidFill>
                  <a:schemeClr val="tx1">
                    <a:lumMod val="95000"/>
                    <a:lumOff val="5000"/>
                  </a:schemeClr>
                </a:solidFill>
                <a:latin typeface="Times New Roman"/>
                <a:ea typeface="Times New Roman"/>
                <a:cs typeface="Times New Roman"/>
                <a:sym typeface="Times New Roman"/>
              </a:rPr>
            </a:br>
            <a:endParaRPr lang="en-IN"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type="subTitle" idx="1"/>
          </p:nvPr>
        </p:nvSpPr>
        <p:spPr bwMode="auto">
          <a:xfrm>
            <a:off x="442912" y="863591"/>
            <a:ext cx="10944226"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80000" marR="0" lvl="0" indent="-18000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 ID: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Unique identifier for each customer. </a:t>
            </a:r>
          </a:p>
          <a:p>
            <a:pPr marL="180000" marR="0" lvl="0" indent="-18000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Credit Score: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Measures creditworthiness. </a:t>
            </a:r>
          </a:p>
          <a:p>
            <a:pPr marL="180000" marR="0" lvl="0" indent="-18000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Poor: 300–579 </a:t>
            </a:r>
          </a:p>
          <a:p>
            <a:pPr marL="180000" marR="0" lvl="0" indent="-18000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Fair: 580–669 </a:t>
            </a:r>
          </a:p>
          <a:p>
            <a:pPr marL="180000" marR="0" lvl="0" indent="-18000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Good: 670–739 </a:t>
            </a:r>
          </a:p>
          <a:p>
            <a:pPr marL="180000" marR="0" lvl="0" indent="-18000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Very Good: 740–799 </a:t>
            </a:r>
          </a:p>
          <a:p>
            <a:pPr marL="180000" marR="0" lvl="0" indent="-18000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Excellent: 800–850 </a:t>
            </a:r>
          </a:p>
          <a:p>
            <a:pPr marL="180000" marR="0" lvl="0" indent="-18000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Geography ID: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Customer's country/region. </a:t>
            </a:r>
          </a:p>
          <a:p>
            <a:pPr marL="180000" marR="0" lvl="0" indent="-18000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Gender ID: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Customer gender. </a:t>
            </a:r>
          </a:p>
          <a:p>
            <a:pPr marL="180000" marR="0" lvl="0" indent="-18000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Customer age. </a:t>
            </a:r>
          </a:p>
          <a:p>
            <a:pPr marL="180000" marR="0" lvl="0" indent="-18000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Tenure: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Years with the bank. </a:t>
            </a:r>
          </a:p>
        </p:txBody>
      </p:sp>
    </p:spTree>
    <p:extLst>
      <p:ext uri="{BB962C8B-B14F-4D97-AF65-F5344CB8AC3E}">
        <p14:creationId xmlns:p14="http://schemas.microsoft.com/office/powerpoint/2010/main" val="276404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57164" y="257176"/>
            <a:ext cx="11887200" cy="6429374"/>
          </a:xfrm>
        </p:spPr>
        <p:txBody>
          <a:bodyPr>
            <a:noAutofit/>
          </a:bodyPr>
          <a:lstStyle/>
          <a:p>
            <a:pPr marL="180000" lvl="0" indent="-180000" algn="l">
              <a:lnSpc>
                <a:spcPct val="150000"/>
              </a:lnSpc>
              <a:spcBef>
                <a:spcPts val="500"/>
              </a:spcBef>
              <a:spcAft>
                <a:spcPts val="500"/>
              </a:spcAft>
              <a:buFont typeface="Arial" panose="020B0604020202020204" pitchFamily="34" charset="0"/>
              <a:buChar char="•"/>
            </a:pPr>
            <a:r>
              <a:rPr lang="en-US" b="1" dirty="0">
                <a:solidFill>
                  <a:schemeClr val="tx1">
                    <a:lumMod val="95000"/>
                    <a:lumOff val="5000"/>
                  </a:schemeClr>
                </a:solidFill>
                <a:latin typeface="Times New Roman"/>
                <a:ea typeface="Times New Roman"/>
                <a:cs typeface="Times New Roman"/>
                <a:sym typeface="Times New Roman"/>
              </a:rPr>
              <a:t>Balance: </a:t>
            </a:r>
            <a:r>
              <a:rPr lang="en-US" dirty="0">
                <a:solidFill>
                  <a:schemeClr val="tx1">
                    <a:lumMod val="95000"/>
                    <a:lumOff val="5000"/>
                  </a:schemeClr>
                </a:solidFill>
                <a:latin typeface="Times New Roman"/>
                <a:ea typeface="Times New Roman"/>
                <a:cs typeface="Times New Roman"/>
                <a:sym typeface="Times New Roman"/>
              </a:rPr>
              <a:t>Current account balance.</a:t>
            </a:r>
          </a:p>
          <a:p>
            <a:pPr marL="180000" lvl="0" indent="-180000" algn="l">
              <a:lnSpc>
                <a:spcPct val="150000"/>
              </a:lnSpc>
              <a:spcBef>
                <a:spcPts val="500"/>
              </a:spcBef>
              <a:spcAft>
                <a:spcPts val="500"/>
              </a:spcAft>
              <a:buFont typeface="Arial" panose="020B0604020202020204" pitchFamily="34" charset="0"/>
              <a:buChar char="•"/>
            </a:pPr>
            <a:r>
              <a:rPr lang="en-US" b="1" dirty="0">
                <a:solidFill>
                  <a:schemeClr val="tx1">
                    <a:lumMod val="95000"/>
                    <a:lumOff val="5000"/>
                  </a:schemeClr>
                </a:solidFill>
                <a:latin typeface="Times New Roman"/>
                <a:ea typeface="Times New Roman"/>
                <a:cs typeface="Times New Roman"/>
                <a:sym typeface="Times New Roman"/>
              </a:rPr>
              <a:t>No. of Products: </a:t>
            </a:r>
            <a:r>
              <a:rPr lang="en-US" dirty="0">
                <a:solidFill>
                  <a:schemeClr val="tx1">
                    <a:lumMod val="95000"/>
                    <a:lumOff val="5000"/>
                  </a:schemeClr>
                </a:solidFill>
                <a:latin typeface="Times New Roman"/>
                <a:ea typeface="Times New Roman"/>
                <a:cs typeface="Times New Roman"/>
                <a:sym typeface="Times New Roman"/>
              </a:rPr>
              <a:t>Number of bank products held by the customer.</a:t>
            </a:r>
          </a:p>
          <a:p>
            <a:pPr marL="180000" lvl="0" indent="-180000" algn="l">
              <a:lnSpc>
                <a:spcPct val="150000"/>
              </a:lnSpc>
              <a:spcBef>
                <a:spcPts val="500"/>
              </a:spcBef>
              <a:spcAft>
                <a:spcPts val="500"/>
              </a:spcAft>
              <a:buFont typeface="Arial" panose="020B0604020202020204" pitchFamily="34" charset="0"/>
              <a:buChar char="•"/>
            </a:pPr>
            <a:r>
              <a:rPr lang="en-US" b="1" dirty="0">
                <a:solidFill>
                  <a:schemeClr val="tx1">
                    <a:lumMod val="95000"/>
                    <a:lumOff val="5000"/>
                  </a:schemeClr>
                </a:solidFill>
                <a:latin typeface="Times New Roman"/>
                <a:ea typeface="Times New Roman"/>
                <a:cs typeface="Times New Roman"/>
                <a:sym typeface="Times New Roman"/>
              </a:rPr>
              <a:t>Has Credit Card: </a:t>
            </a:r>
            <a:r>
              <a:rPr lang="en-US" dirty="0">
                <a:solidFill>
                  <a:schemeClr val="tx1">
                    <a:lumMod val="95000"/>
                    <a:lumOff val="5000"/>
                  </a:schemeClr>
                </a:solidFill>
                <a:latin typeface="Times New Roman"/>
                <a:ea typeface="Times New Roman"/>
                <a:cs typeface="Times New Roman"/>
                <a:sym typeface="Times New Roman"/>
              </a:rPr>
              <a:t>Credit card ownership (1 = Yes, 0 = No).</a:t>
            </a:r>
          </a:p>
          <a:p>
            <a:pPr marL="180000" lvl="0" indent="-180000" algn="l">
              <a:lnSpc>
                <a:spcPct val="150000"/>
              </a:lnSpc>
              <a:spcBef>
                <a:spcPts val="500"/>
              </a:spcBef>
              <a:spcAft>
                <a:spcPts val="500"/>
              </a:spcAft>
              <a:buFont typeface="Arial" panose="020B0604020202020204" pitchFamily="34" charset="0"/>
              <a:buChar char="•"/>
            </a:pPr>
            <a:r>
              <a:rPr lang="en-US" b="1" dirty="0">
                <a:solidFill>
                  <a:schemeClr val="tx1">
                    <a:lumMod val="95000"/>
                    <a:lumOff val="5000"/>
                  </a:schemeClr>
                </a:solidFill>
                <a:latin typeface="Times New Roman"/>
                <a:ea typeface="Times New Roman"/>
                <a:cs typeface="Times New Roman"/>
                <a:sym typeface="Times New Roman"/>
              </a:rPr>
              <a:t>Active Member: </a:t>
            </a:r>
            <a:r>
              <a:rPr lang="en-US" dirty="0">
                <a:solidFill>
                  <a:schemeClr val="tx1">
                    <a:lumMod val="95000"/>
                    <a:lumOff val="5000"/>
                  </a:schemeClr>
                </a:solidFill>
                <a:latin typeface="Times New Roman"/>
                <a:ea typeface="Times New Roman"/>
                <a:cs typeface="Times New Roman"/>
                <a:sym typeface="Times New Roman"/>
              </a:rPr>
              <a:t>Customer activity status (1 = Active, 0 = Inactive).</a:t>
            </a:r>
          </a:p>
          <a:p>
            <a:pPr marL="180000" lvl="0" indent="-180000" algn="l">
              <a:lnSpc>
                <a:spcPct val="150000"/>
              </a:lnSpc>
              <a:spcBef>
                <a:spcPts val="500"/>
              </a:spcBef>
              <a:spcAft>
                <a:spcPts val="500"/>
              </a:spcAft>
              <a:buFont typeface="Arial" panose="020B0604020202020204" pitchFamily="34" charset="0"/>
              <a:buChar char="•"/>
            </a:pPr>
            <a:r>
              <a:rPr lang="en-US" b="1" dirty="0">
                <a:solidFill>
                  <a:schemeClr val="tx1">
                    <a:lumMod val="95000"/>
                    <a:lumOff val="5000"/>
                  </a:schemeClr>
                </a:solidFill>
                <a:latin typeface="Times New Roman"/>
                <a:ea typeface="Times New Roman"/>
                <a:cs typeface="Times New Roman"/>
                <a:sym typeface="Times New Roman"/>
              </a:rPr>
              <a:t>Estimated Salary: </a:t>
            </a:r>
            <a:r>
              <a:rPr lang="en-US" dirty="0">
                <a:solidFill>
                  <a:schemeClr val="tx1">
                    <a:lumMod val="95000"/>
                    <a:lumOff val="5000"/>
                  </a:schemeClr>
                </a:solidFill>
                <a:latin typeface="Times New Roman"/>
                <a:ea typeface="Times New Roman"/>
                <a:cs typeface="Times New Roman"/>
                <a:sym typeface="Times New Roman"/>
              </a:rPr>
              <a:t>Customer's estimated annual salary.</a:t>
            </a:r>
          </a:p>
          <a:p>
            <a:pPr marL="180000" lvl="0" indent="-180000" algn="l">
              <a:lnSpc>
                <a:spcPct val="150000"/>
              </a:lnSpc>
              <a:spcBef>
                <a:spcPts val="500"/>
              </a:spcBef>
              <a:spcAft>
                <a:spcPts val="500"/>
              </a:spcAft>
              <a:buFont typeface="Arial" panose="020B0604020202020204" pitchFamily="34" charset="0"/>
              <a:buChar char="•"/>
            </a:pPr>
            <a:r>
              <a:rPr lang="en-US" b="1" dirty="0">
                <a:solidFill>
                  <a:schemeClr val="tx1">
                    <a:lumMod val="95000"/>
                    <a:lumOff val="5000"/>
                  </a:schemeClr>
                </a:solidFill>
                <a:latin typeface="Times New Roman"/>
                <a:ea typeface="Times New Roman"/>
                <a:cs typeface="Times New Roman"/>
                <a:sym typeface="Times New Roman"/>
              </a:rPr>
              <a:t>Exited: </a:t>
            </a:r>
            <a:r>
              <a:rPr lang="en-US" dirty="0">
                <a:solidFill>
                  <a:schemeClr val="tx1">
                    <a:lumMod val="95000"/>
                    <a:lumOff val="5000"/>
                  </a:schemeClr>
                </a:solidFill>
                <a:latin typeface="Times New Roman"/>
                <a:ea typeface="Times New Roman"/>
                <a:cs typeface="Times New Roman"/>
                <a:sym typeface="Times New Roman"/>
              </a:rPr>
              <a:t>Customer churn status (1 = Exited, 0 = Retained).</a:t>
            </a:r>
          </a:p>
          <a:p>
            <a:pPr marL="180000" lvl="0" indent="-180000" algn="l">
              <a:lnSpc>
                <a:spcPct val="150000"/>
              </a:lnSpc>
              <a:spcBef>
                <a:spcPts val="500"/>
              </a:spcBef>
              <a:spcAft>
                <a:spcPts val="500"/>
              </a:spcAft>
              <a:buFont typeface="Arial" panose="020B0604020202020204" pitchFamily="34" charset="0"/>
              <a:buChar char="•"/>
            </a:pPr>
            <a:r>
              <a:rPr lang="en-US" b="1" dirty="0" err="1">
                <a:solidFill>
                  <a:schemeClr val="tx1">
                    <a:lumMod val="95000"/>
                    <a:lumOff val="5000"/>
                  </a:schemeClr>
                </a:solidFill>
                <a:latin typeface="Times New Roman"/>
                <a:ea typeface="Times New Roman"/>
                <a:cs typeface="Times New Roman"/>
                <a:sym typeface="Times New Roman"/>
              </a:rPr>
              <a:t>Bank_DOJ</a:t>
            </a:r>
            <a:r>
              <a:rPr lang="en-US" b="1" dirty="0">
                <a:solidFill>
                  <a:schemeClr val="tx1">
                    <a:lumMod val="95000"/>
                    <a:lumOff val="5000"/>
                  </a:schemeClr>
                </a:solidFill>
                <a:latin typeface="Times New Roman"/>
                <a:ea typeface="Times New Roman"/>
                <a:cs typeface="Times New Roman"/>
                <a:sym typeface="Times New Roman"/>
              </a:rPr>
              <a:t>: </a:t>
            </a:r>
            <a:r>
              <a:rPr lang="en-US" dirty="0">
                <a:solidFill>
                  <a:schemeClr val="tx1">
                    <a:lumMod val="95000"/>
                    <a:lumOff val="5000"/>
                  </a:schemeClr>
                </a:solidFill>
                <a:latin typeface="Times New Roman"/>
                <a:ea typeface="Times New Roman"/>
                <a:cs typeface="Times New Roman"/>
                <a:sym typeface="Times New Roman"/>
              </a:rPr>
              <a:t>Customer's joining date with the bank.</a:t>
            </a:r>
          </a:p>
          <a:p>
            <a:pPr>
              <a:lnSpc>
                <a:spcPct val="150000"/>
              </a:lnSpc>
            </a:pPr>
            <a:endParaRPr lang="en-IN" sz="2800" dirty="0">
              <a:solidFill>
                <a:schemeClr val="tx1">
                  <a:lumMod val="95000"/>
                  <a:lumOff val="5000"/>
                </a:schemeClr>
              </a:solidFill>
            </a:endParaRPr>
          </a:p>
        </p:txBody>
      </p:sp>
    </p:spTree>
    <p:extLst>
      <p:ext uri="{BB962C8B-B14F-4D97-AF65-F5344CB8AC3E}">
        <p14:creationId xmlns:p14="http://schemas.microsoft.com/office/powerpoint/2010/main" val="1605803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1524000" y="1"/>
            <a:ext cx="9177338" cy="728870"/>
          </a:xfrm>
        </p:spPr>
        <p:txBody>
          <a:bodyPr>
            <a:normAutofit/>
          </a:bodyPr>
          <a:lstStyle/>
          <a:p>
            <a:r>
              <a:rPr lang="en-GB" sz="4000" b="1" dirty="0">
                <a:solidFill>
                  <a:schemeClr val="accent5">
                    <a:lumMod val="75000"/>
                  </a:schemeClr>
                </a:solidFill>
                <a:latin typeface="Times New Roman"/>
                <a:ea typeface="Times New Roman"/>
                <a:cs typeface="Times New Roman"/>
                <a:sym typeface="Times New Roman"/>
              </a:rPr>
              <a:t>Churn Rate By Gender &amp; Year</a:t>
            </a:r>
            <a:endParaRPr lang="en-IN" sz="4000" b="1" dirty="0">
              <a:solidFill>
                <a:schemeClr val="accent5">
                  <a:lumMod val="75000"/>
                </a:schemeClr>
              </a:solidFill>
            </a:endParaRPr>
          </a:p>
        </p:txBody>
      </p:sp>
      <p:sp>
        <p:nvSpPr>
          <p:cNvPr id="4" name="Subtitle 3"/>
          <p:cNvSpPr>
            <a:spLocks noGrp="1"/>
          </p:cNvSpPr>
          <p:nvPr>
            <p:ph type="subTitle" idx="1"/>
          </p:nvPr>
        </p:nvSpPr>
        <p:spPr>
          <a:xfrm>
            <a:off x="8150087" y="1219201"/>
            <a:ext cx="3933055" cy="5638800"/>
          </a:xfrm>
        </p:spPr>
        <p:txBody>
          <a:bodyPr>
            <a:normAutofit fontScale="40000" lnSpcReduction="20000"/>
          </a:bodyPr>
          <a:lstStyle/>
          <a:p>
            <a:pPr algn="l"/>
            <a:r>
              <a:rPr lang="en-US" sz="6000" b="1">
                <a:solidFill>
                  <a:srgbClr val="7030A0"/>
                </a:solidFill>
                <a:latin typeface="Times New Roman" panose="02020603050405020304" pitchFamily="18" charset="0"/>
                <a:cs typeface="Times New Roman" panose="02020603050405020304" pitchFamily="18" charset="0"/>
              </a:rPr>
              <a:t>Key Insights </a:t>
            </a:r>
          </a:p>
          <a:p>
            <a:pPr algn="l"/>
            <a:r>
              <a:rPr lang="en-US" sz="7200">
                <a:latin typeface="Times New Roman" panose="02020603050405020304" pitchFamily="18" charset="0"/>
                <a:cs typeface="Times New Roman" panose="02020603050405020304" pitchFamily="18" charset="0"/>
              </a:rPr>
              <a:t>• </a:t>
            </a:r>
            <a:r>
              <a:rPr lang="en-US" sz="6000">
                <a:latin typeface="Times New Roman" panose="02020603050405020304" pitchFamily="18" charset="0"/>
                <a:cs typeface="Times New Roman" panose="02020603050405020304" pitchFamily="18" charset="0"/>
              </a:rPr>
              <a:t>Female customers have consistently higher churn.</a:t>
            </a:r>
          </a:p>
          <a:p>
            <a:pPr algn="l"/>
            <a:br>
              <a:rPr lang="en-US" sz="6000">
                <a:latin typeface="Times New Roman" panose="02020603050405020304" pitchFamily="18" charset="0"/>
                <a:cs typeface="Times New Roman" panose="02020603050405020304" pitchFamily="18" charset="0"/>
              </a:rPr>
            </a:br>
            <a:r>
              <a:rPr lang="en-US" sz="6000">
                <a:latin typeface="Times New Roman" panose="02020603050405020304" pitchFamily="18" charset="0"/>
                <a:cs typeface="Times New Roman" panose="02020603050405020304" pitchFamily="18" charset="0"/>
              </a:rPr>
              <a:t>• Male customer retention is improving.</a:t>
            </a:r>
          </a:p>
          <a:p>
            <a:endParaRPr lang="en-US" sz="6000">
              <a:latin typeface="Times New Roman" panose="02020603050405020304" pitchFamily="18" charset="0"/>
              <a:cs typeface="Times New Roman" panose="02020603050405020304" pitchFamily="18" charset="0"/>
            </a:endParaRPr>
          </a:p>
          <a:p>
            <a:pPr algn="l"/>
            <a:r>
              <a:rPr lang="en-US" sz="6000" b="1">
                <a:solidFill>
                  <a:srgbClr val="7030A0"/>
                </a:solidFill>
                <a:latin typeface="Times New Roman" panose="02020603050405020304" pitchFamily="18" charset="0"/>
                <a:cs typeface="Times New Roman" panose="02020603050405020304" pitchFamily="18" charset="0"/>
              </a:rPr>
              <a:t>Recommendations</a:t>
            </a:r>
            <a:r>
              <a:rPr lang="en-US" sz="6000" b="1">
                <a:latin typeface="Times New Roman" panose="02020603050405020304" pitchFamily="18" charset="0"/>
                <a:cs typeface="Times New Roman" panose="02020603050405020304" pitchFamily="18" charset="0"/>
              </a:rPr>
              <a:t> </a:t>
            </a:r>
          </a:p>
          <a:p>
            <a:pPr algn="l"/>
            <a:r>
              <a:rPr lang="en-US" sz="7200">
                <a:latin typeface="Times New Roman" panose="02020603050405020304" pitchFamily="18" charset="0"/>
                <a:cs typeface="Times New Roman" panose="02020603050405020304" pitchFamily="18" charset="0"/>
              </a:rPr>
              <a:t>• </a:t>
            </a:r>
            <a:r>
              <a:rPr lang="en-US" sz="6000">
                <a:latin typeface="Times New Roman" panose="02020603050405020304" pitchFamily="18" charset="0"/>
                <a:cs typeface="Times New Roman" panose="02020603050405020304" pitchFamily="18" charset="0"/>
              </a:rPr>
              <a:t>Strengthen female-focused retention programs.</a:t>
            </a:r>
          </a:p>
          <a:p>
            <a:pPr algn="l"/>
            <a:br>
              <a:rPr lang="en-US" sz="6000">
                <a:latin typeface="Times New Roman" panose="02020603050405020304" pitchFamily="18" charset="0"/>
                <a:cs typeface="Times New Roman" panose="02020603050405020304" pitchFamily="18" charset="0"/>
              </a:rPr>
            </a:br>
            <a:r>
              <a:rPr lang="en-US" sz="6000">
                <a:latin typeface="Times New Roman" panose="02020603050405020304" pitchFamily="18" charset="0"/>
                <a:cs typeface="Times New Roman" panose="02020603050405020304" pitchFamily="18" charset="0"/>
              </a:rPr>
              <a:t>• Identify causes of female customer churn.</a:t>
            </a:r>
          </a:p>
          <a:p>
            <a:pPr algn="l">
              <a:lnSpc>
                <a:spcPct val="120000"/>
              </a:lnSpc>
            </a:pPr>
            <a:r>
              <a:rPr lang="en-US" sz="8800">
                <a:latin typeface="Times New Roman" panose="02020603050405020304" pitchFamily="18" charset="0"/>
                <a:cs typeface="Times New Roman" panose="02020603050405020304" pitchFamily="18" charset="0"/>
              </a:rPr>
              <a:t> </a:t>
            </a:r>
            <a:endParaRPr lang="en-US" sz="8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5239580-8FF6-4292-A9A7-82C47E099294}"/>
              </a:ext>
            </a:extLst>
          </p:cNvPr>
          <p:cNvSpPr txBox="1"/>
          <p:nvPr/>
        </p:nvSpPr>
        <p:spPr>
          <a:xfrm>
            <a:off x="397565" y="5989983"/>
            <a:ext cx="7076660" cy="323165"/>
          </a:xfrm>
          <a:prstGeom prst="rect">
            <a:avLst/>
          </a:prstGeom>
          <a:noFill/>
        </p:spPr>
        <p:txBody>
          <a:bodyPr wrap="square" rtlCol="0">
            <a:spAutoFit/>
          </a:bodyPr>
          <a:lstStyle/>
          <a:p>
            <a:r>
              <a:rPr lang="en-US" sz="1500" b="1">
                <a:solidFill>
                  <a:srgbClr val="002060"/>
                </a:solidFill>
                <a:latin typeface="Times New Roman" panose="02020603050405020304" pitchFamily="18" charset="0"/>
                <a:cs typeface="Times New Roman" panose="02020603050405020304" pitchFamily="18" charset="0"/>
              </a:rPr>
              <a:t>Female customers consistently exhibit 8–10% higher churn than male customers.</a:t>
            </a:r>
            <a:endParaRPr lang="en-IN" sz="1500" b="1">
              <a:solidFill>
                <a:srgbClr val="00206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536BC3F-164C-43B9-9F86-825367CE7D32}"/>
              </a:ext>
            </a:extLst>
          </p:cNvPr>
          <p:cNvPicPr>
            <a:picLocks noChangeAspect="1"/>
          </p:cNvPicPr>
          <p:nvPr/>
        </p:nvPicPr>
        <p:blipFill rotWithShape="1">
          <a:blip r:embed="rId2"/>
          <a:srcRect l="18152" t="27429" r="41196" b="19019"/>
          <a:stretch/>
        </p:blipFill>
        <p:spPr>
          <a:xfrm>
            <a:off x="108858" y="1219201"/>
            <a:ext cx="7762933" cy="4638260"/>
          </a:xfrm>
          <a:prstGeom prst="rect">
            <a:avLst/>
          </a:prstGeom>
        </p:spPr>
      </p:pic>
    </p:spTree>
    <p:extLst>
      <p:ext uri="{BB962C8B-B14F-4D97-AF65-F5344CB8AC3E}">
        <p14:creationId xmlns:p14="http://schemas.microsoft.com/office/powerpoint/2010/main" val="1484891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1524000" y="-156753"/>
            <a:ext cx="9144000" cy="708448"/>
          </a:xfrm>
        </p:spPr>
        <p:txBody>
          <a:bodyPr>
            <a:normAutofit/>
          </a:bodyPr>
          <a:lstStyle/>
          <a:p>
            <a:r>
              <a:rPr lang="en-GB" sz="4000" b="1" dirty="0">
                <a:solidFill>
                  <a:schemeClr val="accent5">
                    <a:lumMod val="75000"/>
                  </a:schemeClr>
                </a:solidFill>
                <a:latin typeface="Times New Roman"/>
                <a:ea typeface="Times New Roman"/>
                <a:cs typeface="Times New Roman"/>
                <a:sym typeface="Times New Roman"/>
              </a:rPr>
              <a:t>Churn Count By Year</a:t>
            </a:r>
            <a:endParaRPr lang="en-IN" sz="4000" b="1" dirty="0">
              <a:solidFill>
                <a:schemeClr val="accent5">
                  <a:lumMod val="75000"/>
                </a:schemeClr>
              </a:solidFill>
            </a:endParaRPr>
          </a:p>
        </p:txBody>
      </p:sp>
      <p:sp>
        <p:nvSpPr>
          <p:cNvPr id="4" name="Subtitle 3"/>
          <p:cNvSpPr>
            <a:spLocks noGrp="1"/>
          </p:cNvSpPr>
          <p:nvPr>
            <p:ph type="subTitle" idx="1"/>
          </p:nvPr>
        </p:nvSpPr>
        <p:spPr>
          <a:xfrm>
            <a:off x="8269357" y="1060174"/>
            <a:ext cx="3574981" cy="5526364"/>
          </a:xfrm>
        </p:spPr>
        <p:txBody>
          <a:bodyPr>
            <a:normAutofit/>
          </a:bodyPr>
          <a:lstStyle/>
          <a:p>
            <a:pPr algn="l"/>
            <a:r>
              <a:rPr lang="en-US" b="1">
                <a:solidFill>
                  <a:srgbClr val="7030A0"/>
                </a:solidFill>
                <a:latin typeface="Times New Roman" panose="02020603050405020304" pitchFamily="18" charset="0"/>
                <a:cs typeface="Times New Roman" panose="02020603050405020304" pitchFamily="18" charset="0"/>
              </a:rPr>
              <a:t>Key Insights</a:t>
            </a:r>
          </a:p>
          <a:p>
            <a:pPr algn="l"/>
            <a:r>
              <a:rPr lang="en-US">
                <a:latin typeface="Times New Roman" panose="02020603050405020304" pitchFamily="18" charset="0"/>
                <a:cs typeface="Times New Roman" panose="02020603050405020304" pitchFamily="18" charset="0"/>
              </a:rPr>
              <a:t>• Churn rose consistently over time.</a:t>
            </a:r>
          </a:p>
          <a:p>
            <a:pPr algn="l"/>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 2019 recorded the highest churn.</a:t>
            </a:r>
          </a:p>
          <a:p>
            <a:pPr algn="l"/>
            <a:endParaRPr lang="en-US" b="1">
              <a:solidFill>
                <a:srgbClr val="7030A0"/>
              </a:solidFill>
              <a:latin typeface="Times New Roman" panose="02020603050405020304" pitchFamily="18" charset="0"/>
              <a:cs typeface="Times New Roman" panose="02020603050405020304" pitchFamily="18" charset="0"/>
            </a:endParaRPr>
          </a:p>
          <a:p>
            <a:pPr algn="l"/>
            <a:r>
              <a:rPr lang="en-US" b="1">
                <a:solidFill>
                  <a:srgbClr val="7030A0"/>
                </a:solidFill>
                <a:latin typeface="Times New Roman" panose="02020603050405020304" pitchFamily="18" charset="0"/>
                <a:cs typeface="Times New Roman" panose="02020603050405020304" pitchFamily="18" charset="0"/>
              </a:rPr>
              <a:t>Recommendations</a:t>
            </a:r>
          </a:p>
          <a:p>
            <a:pPr algn="l"/>
            <a:r>
              <a:rPr lang="en-US">
                <a:latin typeface="Times New Roman" panose="02020603050405020304" pitchFamily="18" charset="0"/>
                <a:cs typeface="Times New Roman" panose="02020603050405020304" pitchFamily="18" charset="0"/>
              </a:rPr>
              <a:t>• Analyze causes of rising churn.</a:t>
            </a:r>
          </a:p>
          <a:p>
            <a:pPr algn="l"/>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 Improve retention strategies.</a:t>
            </a:r>
          </a:p>
          <a:p>
            <a:endParaRPr lang="en-IN" sz="8800" dirty="0"/>
          </a:p>
        </p:txBody>
      </p:sp>
      <p:sp>
        <p:nvSpPr>
          <p:cNvPr id="6" name="TextBox 5">
            <a:extLst>
              <a:ext uri="{FF2B5EF4-FFF2-40B4-BE49-F238E27FC236}">
                <a16:creationId xmlns:a16="http://schemas.microsoft.com/office/drawing/2014/main" id="{9DEB0F8B-E7BC-4DE7-B862-05E3C42FA11B}"/>
              </a:ext>
            </a:extLst>
          </p:cNvPr>
          <p:cNvSpPr txBox="1"/>
          <p:nvPr/>
        </p:nvSpPr>
        <p:spPr>
          <a:xfrm>
            <a:off x="225287" y="5936974"/>
            <a:ext cx="7474226" cy="369332"/>
          </a:xfrm>
          <a:prstGeom prst="rect">
            <a:avLst/>
          </a:prstGeom>
          <a:noFill/>
        </p:spPr>
        <p:txBody>
          <a:bodyPr wrap="square" rtlCol="0">
            <a:spAutoFit/>
          </a:bodyPr>
          <a:lstStyle/>
          <a:p>
            <a:r>
              <a:rPr lang="en-US"/>
              <a:t>   </a:t>
            </a:r>
            <a:r>
              <a:rPr lang="en-US" b="1">
                <a:solidFill>
                  <a:srgbClr val="002060"/>
                </a:solidFill>
                <a:latin typeface="Times New Roman" panose="02020603050405020304" pitchFamily="18" charset="0"/>
                <a:cs typeface="Times New Roman" panose="02020603050405020304" pitchFamily="18" charset="0"/>
              </a:rPr>
              <a:t>Customer churn increased consistently, reaching its highest level in 2019.</a:t>
            </a:r>
            <a:endParaRPr lang="en-IN" b="1">
              <a:solidFill>
                <a:srgbClr val="002060"/>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9AD4185-4D5F-4E76-B286-210E8669FAC7}"/>
              </a:ext>
            </a:extLst>
          </p:cNvPr>
          <p:cNvPicPr>
            <a:picLocks noChangeAspect="1"/>
          </p:cNvPicPr>
          <p:nvPr/>
        </p:nvPicPr>
        <p:blipFill rotWithShape="1">
          <a:blip r:embed="rId2"/>
          <a:srcRect l="22500" t="29555" r="40652" b="16699"/>
          <a:stretch/>
        </p:blipFill>
        <p:spPr>
          <a:xfrm>
            <a:off x="347662" y="874644"/>
            <a:ext cx="7351851" cy="5062329"/>
          </a:xfrm>
          <a:prstGeom prst="rect">
            <a:avLst/>
          </a:prstGeom>
        </p:spPr>
      </p:pic>
    </p:spTree>
    <p:extLst>
      <p:ext uri="{BB962C8B-B14F-4D97-AF65-F5344CB8AC3E}">
        <p14:creationId xmlns:p14="http://schemas.microsoft.com/office/powerpoint/2010/main" val="469698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1100138" y="0"/>
            <a:ext cx="10058400" cy="715617"/>
          </a:xfrm>
        </p:spPr>
        <p:txBody>
          <a:bodyPr>
            <a:normAutofit/>
          </a:bodyPr>
          <a:lstStyle/>
          <a:p>
            <a:r>
              <a:rPr lang="en-GB" sz="4000" b="1" dirty="0">
                <a:solidFill>
                  <a:schemeClr val="accent5">
                    <a:lumMod val="75000"/>
                  </a:schemeClr>
                </a:solidFill>
                <a:latin typeface="Times New Roman"/>
                <a:ea typeface="Times New Roman"/>
                <a:cs typeface="Times New Roman"/>
                <a:sym typeface="Times New Roman"/>
              </a:rPr>
              <a:t>Customers &amp; Churn Rate by Age Group</a:t>
            </a:r>
            <a:endParaRPr lang="en-IN" sz="4000" dirty="0">
              <a:solidFill>
                <a:schemeClr val="accent5">
                  <a:lumMod val="75000"/>
                </a:schemeClr>
              </a:solidFill>
            </a:endParaRPr>
          </a:p>
        </p:txBody>
      </p:sp>
      <p:sp>
        <p:nvSpPr>
          <p:cNvPr id="4" name="Subtitle 3"/>
          <p:cNvSpPr>
            <a:spLocks noGrp="1"/>
          </p:cNvSpPr>
          <p:nvPr>
            <p:ph type="subTitle" idx="1"/>
          </p:nvPr>
        </p:nvSpPr>
        <p:spPr>
          <a:xfrm>
            <a:off x="7447722" y="1219200"/>
            <a:ext cx="4532243" cy="4982817"/>
          </a:xfrm>
        </p:spPr>
        <p:txBody>
          <a:bodyPr>
            <a:noAutofit/>
          </a:bodyPr>
          <a:lstStyle/>
          <a:p>
            <a:pPr algn="l"/>
            <a:r>
              <a:rPr lang="en-US" b="1">
                <a:solidFill>
                  <a:srgbClr val="7030A0"/>
                </a:solidFill>
                <a:latin typeface="Times New Roman" panose="02020603050405020304" pitchFamily="18" charset="0"/>
                <a:cs typeface="Times New Roman" panose="02020603050405020304" pitchFamily="18" charset="0"/>
              </a:rPr>
              <a:t>Key Insights</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30–50 is the largest customer segment.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18–30 customers show the lowest churn.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50+ customers have the highest churn. </a:t>
            </a:r>
          </a:p>
          <a:p>
            <a:pPr algn="l"/>
            <a:r>
              <a:rPr lang="en-US" b="1">
                <a:solidFill>
                  <a:srgbClr val="7030A0"/>
                </a:solidFill>
                <a:latin typeface="Times New Roman" panose="02020603050405020304" pitchFamily="18" charset="0"/>
                <a:cs typeface="Times New Roman" panose="02020603050405020304" pitchFamily="18" charset="0"/>
              </a:rPr>
              <a:t>Recommendations</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Focus retention on 50+ customers.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Strengthen loyalty for 30–50 customers.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Grow the 18–30 customer base. </a:t>
            </a:r>
          </a:p>
          <a:p>
            <a:pPr algn="l"/>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7C5BAFA-7AB5-4557-AB9D-3873D1536B97}"/>
              </a:ext>
            </a:extLst>
          </p:cNvPr>
          <p:cNvSpPr txBox="1"/>
          <p:nvPr/>
        </p:nvSpPr>
        <p:spPr>
          <a:xfrm>
            <a:off x="159026" y="5883965"/>
            <a:ext cx="6665845" cy="646331"/>
          </a:xfrm>
          <a:prstGeom prst="rect">
            <a:avLst/>
          </a:prstGeom>
          <a:noFill/>
        </p:spPr>
        <p:txBody>
          <a:bodyPr wrap="square" rtlCol="0">
            <a:spAutoFit/>
          </a:bodyPr>
          <a:lstStyle/>
          <a:p>
            <a:r>
              <a:rPr lang="en-US" b="1">
                <a:solidFill>
                  <a:srgbClr val="002060"/>
                </a:solidFill>
                <a:latin typeface="Times New Roman" panose="02020603050405020304" pitchFamily="18" charset="0"/>
                <a:cs typeface="Times New Roman" panose="02020603050405020304" pitchFamily="18" charset="0"/>
              </a:rPr>
              <a:t>Younger customers are more loyal, while churn risk rises significantly among customers aged 50+.</a:t>
            </a:r>
            <a:endParaRPr lang="en-IN" b="1">
              <a:solidFill>
                <a:srgbClr val="002060"/>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009FF215-D243-48BB-8C60-9ED027C8BC4E}"/>
              </a:ext>
            </a:extLst>
          </p:cNvPr>
          <p:cNvPicPr/>
          <p:nvPr/>
        </p:nvPicPr>
        <p:blipFill rotWithShape="1">
          <a:blip r:embed="rId2"/>
          <a:srcRect l="23599" t="29852" r="40173" b="20493"/>
          <a:stretch/>
        </p:blipFill>
        <p:spPr bwMode="auto">
          <a:xfrm>
            <a:off x="185530" y="874643"/>
            <a:ext cx="7089913" cy="4982817"/>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50608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5" name="Title 4"/>
          <p:cNvSpPr>
            <a:spLocks noGrp="1"/>
          </p:cNvSpPr>
          <p:nvPr>
            <p:ph type="ctrTitle"/>
          </p:nvPr>
        </p:nvSpPr>
        <p:spPr>
          <a:xfrm>
            <a:off x="1524000" y="1"/>
            <a:ext cx="9577388" cy="742121"/>
          </a:xfrm>
        </p:spPr>
        <p:txBody>
          <a:bodyPr>
            <a:normAutofit/>
          </a:bodyPr>
          <a:lstStyle/>
          <a:p>
            <a:r>
              <a:rPr lang="en-GB" sz="4000" b="1" dirty="0">
                <a:solidFill>
                  <a:schemeClr val="accent5">
                    <a:lumMod val="75000"/>
                  </a:schemeClr>
                </a:solidFill>
                <a:latin typeface="Times New Roman"/>
                <a:ea typeface="Times New Roman"/>
                <a:cs typeface="Times New Roman"/>
                <a:sym typeface="Times New Roman"/>
              </a:rPr>
              <a:t>Churn Rate By Gender</a:t>
            </a:r>
            <a:endParaRPr lang="en-IN" sz="4000" dirty="0">
              <a:solidFill>
                <a:schemeClr val="accent5">
                  <a:lumMod val="75000"/>
                </a:schemeClr>
              </a:solidFill>
            </a:endParaRPr>
          </a:p>
        </p:txBody>
      </p:sp>
      <p:sp>
        <p:nvSpPr>
          <p:cNvPr id="6" name="Subtitle 5"/>
          <p:cNvSpPr>
            <a:spLocks noGrp="1"/>
          </p:cNvSpPr>
          <p:nvPr>
            <p:ph type="subTitle" idx="1"/>
          </p:nvPr>
        </p:nvSpPr>
        <p:spPr>
          <a:xfrm>
            <a:off x="8189843" y="1175658"/>
            <a:ext cx="4002157" cy="5132378"/>
          </a:xfrm>
          <a:ln>
            <a:noFill/>
          </a:ln>
        </p:spPr>
        <p:txBody>
          <a:bodyPr>
            <a:normAutofit fontScale="92500"/>
          </a:bodyPr>
          <a:lstStyle/>
          <a:p>
            <a:pPr algn="l"/>
            <a:r>
              <a:rPr lang="en-US" b="1">
                <a:solidFill>
                  <a:srgbClr val="7030A0"/>
                </a:solidFill>
                <a:latin typeface="Times New Roman" panose="02020603050405020304" pitchFamily="18" charset="0"/>
                <a:cs typeface="Times New Roman" panose="02020603050405020304" pitchFamily="18" charset="0"/>
              </a:rPr>
              <a:t>Key Insights</a:t>
            </a:r>
          </a:p>
          <a:p>
            <a:pPr algn="l">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Higher churn among females. </a:t>
            </a:r>
          </a:p>
          <a:p>
            <a:pPr algn="l">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Lower female retention. </a:t>
            </a:r>
          </a:p>
          <a:p>
            <a:pPr algn="l">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Stronger male loyalty. </a:t>
            </a:r>
          </a:p>
          <a:p>
            <a:pPr algn="l"/>
            <a:r>
              <a:rPr lang="en-US" b="1">
                <a:solidFill>
                  <a:srgbClr val="7030A0"/>
                </a:solidFill>
                <a:latin typeface="Times New Roman" panose="02020603050405020304" pitchFamily="18" charset="0"/>
                <a:cs typeface="Times New Roman" panose="02020603050405020304" pitchFamily="18" charset="0"/>
              </a:rPr>
              <a:t>Recommendations</a:t>
            </a:r>
          </a:p>
          <a:p>
            <a:pPr algn="l">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Target female retention. </a:t>
            </a:r>
          </a:p>
          <a:p>
            <a:pPr algn="l">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Resolve key pain points. </a:t>
            </a:r>
          </a:p>
          <a:p>
            <a:pPr algn="l">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Replicate successful male strategies. </a:t>
            </a:r>
          </a:p>
          <a:p>
            <a:pPr algn="l">
              <a:lnSpc>
                <a:spcPct val="120000"/>
              </a:lnSpc>
            </a:pP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D368A56-9A39-4887-AD5B-2B3D6739496F}"/>
              </a:ext>
            </a:extLst>
          </p:cNvPr>
          <p:cNvSpPr txBox="1"/>
          <p:nvPr/>
        </p:nvSpPr>
        <p:spPr>
          <a:xfrm>
            <a:off x="148046" y="5844209"/>
            <a:ext cx="7220163" cy="584775"/>
          </a:xfrm>
          <a:prstGeom prst="rect">
            <a:avLst/>
          </a:prstGeom>
          <a:noFill/>
        </p:spPr>
        <p:txBody>
          <a:bodyPr wrap="square" rtlCol="0">
            <a:spAutoFit/>
          </a:bodyPr>
          <a:lstStyle/>
          <a:p>
            <a:r>
              <a:rPr lang="en-US" sz="1600" b="1">
                <a:solidFill>
                  <a:srgbClr val="002060"/>
                </a:solidFill>
                <a:latin typeface="Times New Roman" panose="02020603050405020304" pitchFamily="18" charset="0"/>
                <a:cs typeface="Times New Roman" panose="02020603050405020304" pitchFamily="18" charset="0"/>
              </a:rPr>
              <a:t>Female customers are more likely to churn, while male customers demonstrate stronger loyalty.</a:t>
            </a:r>
            <a:r>
              <a:rPr lang="en-US" sz="1600">
                <a:solidFill>
                  <a:srgbClr val="002060"/>
                </a:solidFill>
                <a:latin typeface="Times New Roman" panose="02020603050405020304" pitchFamily="18" charset="0"/>
                <a:cs typeface="Times New Roman" panose="02020603050405020304" pitchFamily="18" charset="0"/>
              </a:rPr>
              <a:t> </a:t>
            </a:r>
            <a:endParaRPr lang="en-IN" sz="1600">
              <a:solidFill>
                <a:srgbClr val="00206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F461AAA-ED53-43BF-A4F2-BDCC40D3725D}"/>
              </a:ext>
            </a:extLst>
          </p:cNvPr>
          <p:cNvPicPr>
            <a:picLocks noChangeAspect="1"/>
          </p:cNvPicPr>
          <p:nvPr/>
        </p:nvPicPr>
        <p:blipFill rotWithShape="1">
          <a:blip r:embed="rId2">
            <a:extLst>
              <a:ext uri="{28A0092B-C50C-407E-A947-70E740481C1C}">
                <a14:useLocalDpi xmlns:a14="http://schemas.microsoft.com/office/drawing/2010/main" val="0"/>
              </a:ext>
            </a:extLst>
          </a:blip>
          <a:srcRect l="4891" t="23755" r="74022" b="51885"/>
          <a:stretch/>
        </p:blipFill>
        <p:spPr>
          <a:xfrm>
            <a:off x="291548" y="967409"/>
            <a:ext cx="7566991" cy="4757530"/>
          </a:xfrm>
          <a:prstGeom prst="rect">
            <a:avLst/>
          </a:prstGeom>
          <a:ln>
            <a:solidFill>
              <a:schemeClr val="tx1"/>
            </a:solidFill>
          </a:ln>
        </p:spPr>
      </p:pic>
    </p:spTree>
    <p:extLst>
      <p:ext uri="{BB962C8B-B14F-4D97-AF65-F5344CB8AC3E}">
        <p14:creationId xmlns:p14="http://schemas.microsoft.com/office/powerpoint/2010/main" val="1538419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842963" y="92764"/>
            <a:ext cx="10186987" cy="636105"/>
          </a:xfrm>
        </p:spPr>
        <p:txBody>
          <a:bodyPr>
            <a:normAutofit fontScale="90000"/>
          </a:bodyPr>
          <a:lstStyle/>
          <a:p>
            <a:r>
              <a:rPr lang="en-GB" sz="4000" b="1" dirty="0">
                <a:solidFill>
                  <a:schemeClr val="accent5">
                    <a:lumMod val="75000"/>
                  </a:schemeClr>
                </a:solidFill>
                <a:latin typeface="Times New Roman"/>
                <a:ea typeface="Times New Roman"/>
                <a:cs typeface="Times New Roman"/>
                <a:sym typeface="Times New Roman"/>
              </a:rPr>
              <a:t>Churn Rate By Geography Location</a:t>
            </a:r>
            <a:endParaRPr lang="en-IN" sz="4000" dirty="0">
              <a:solidFill>
                <a:schemeClr val="accent5">
                  <a:lumMod val="75000"/>
                </a:schemeClr>
              </a:solidFill>
            </a:endParaRPr>
          </a:p>
        </p:txBody>
      </p:sp>
      <p:sp>
        <p:nvSpPr>
          <p:cNvPr id="4" name="Subtitle 3"/>
          <p:cNvSpPr>
            <a:spLocks noGrp="1"/>
          </p:cNvSpPr>
          <p:nvPr>
            <p:ph type="subTitle" idx="1"/>
          </p:nvPr>
        </p:nvSpPr>
        <p:spPr>
          <a:xfrm>
            <a:off x="8163339" y="1014413"/>
            <a:ext cx="3843130" cy="5267117"/>
          </a:xfrm>
        </p:spPr>
        <p:txBody>
          <a:bodyPr>
            <a:noAutofit/>
          </a:bodyPr>
          <a:lstStyle/>
          <a:p>
            <a:pPr algn="l"/>
            <a:r>
              <a:rPr lang="en-US" b="1">
                <a:solidFill>
                  <a:srgbClr val="7030A0"/>
                </a:solidFill>
                <a:latin typeface="Times New Roman" panose="02020603050405020304" pitchFamily="18" charset="0"/>
                <a:cs typeface="Times New Roman" panose="02020603050405020304" pitchFamily="18" charset="0"/>
              </a:rPr>
              <a:t>Key Insights</a:t>
            </a:r>
          </a:p>
          <a:p>
            <a:pPr algn="l">
              <a:lnSpc>
                <a:spcPct val="150000"/>
              </a:lnSpc>
            </a:pPr>
            <a:r>
              <a:rPr lang="en-US">
                <a:latin typeface="Times New Roman" panose="02020603050405020304" pitchFamily="18" charset="0"/>
                <a:cs typeface="Times New Roman" panose="02020603050405020304" pitchFamily="18" charset="0"/>
              </a:rPr>
              <a:t>• Germany records the highest churn.</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 France has the lowest churn rate.</a:t>
            </a:r>
          </a:p>
          <a:p>
            <a:pPr algn="l"/>
            <a:r>
              <a:rPr lang="en-US" b="1">
                <a:solidFill>
                  <a:srgbClr val="7030A0"/>
                </a:solidFill>
                <a:latin typeface="Times New Roman" panose="02020603050405020304" pitchFamily="18" charset="0"/>
                <a:cs typeface="Times New Roman" panose="02020603050405020304" pitchFamily="18" charset="0"/>
              </a:rPr>
              <a:t>Recommendations</a:t>
            </a:r>
          </a:p>
          <a:p>
            <a:pPr algn="l">
              <a:lnSpc>
                <a:spcPct val="150000"/>
              </a:lnSpc>
            </a:pPr>
            <a:r>
              <a:rPr lang="en-US">
                <a:latin typeface="Times New Roman" panose="02020603050405020304" pitchFamily="18" charset="0"/>
                <a:cs typeface="Times New Roman" panose="02020603050405020304" pitchFamily="18" charset="0"/>
              </a:rPr>
              <a:t>• Improve retention in Germany.</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 Scale growth initiatives in Spain.</a:t>
            </a:r>
          </a:p>
          <a:p>
            <a:pPr algn="l"/>
            <a:endParaRPr lang="en-IN" sz="2200" dirty="0">
              <a:latin typeface="Times New Roman" panose="02020603050405020304" pitchFamily="18" charset="0"/>
              <a:cs typeface="Times New Roman" panose="02020603050405020304" pitchFamily="18" charset="0"/>
            </a:endParaRPr>
          </a:p>
        </p:txBody>
      </p:sp>
      <p:sp>
        <p:nvSpPr>
          <p:cNvPr id="8" name="Rectangle 2">
            <a:extLst>
              <a:ext uri="{FF2B5EF4-FFF2-40B4-BE49-F238E27FC236}">
                <a16:creationId xmlns:a16="http://schemas.microsoft.com/office/drawing/2014/main" id="{331CEDBB-4B71-42BD-A46C-4CB5E2DA7EE7}"/>
              </a:ext>
            </a:extLst>
          </p:cNvPr>
          <p:cNvSpPr>
            <a:spLocks noChangeArrowheads="1"/>
          </p:cNvSpPr>
          <p:nvPr/>
        </p:nvSpPr>
        <p:spPr bwMode="auto">
          <a:xfrm rot="10800000" flipV="1">
            <a:off x="136765" y="6051766"/>
            <a:ext cx="7178435"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a:ln>
                  <a:noFill/>
                </a:ln>
                <a:solidFill>
                  <a:srgbClr val="002060"/>
                </a:solidFill>
                <a:effectLst/>
                <a:latin typeface="Times New Roman" panose="02020603050405020304" pitchFamily="18" charset="0"/>
                <a:cs typeface="Times New Roman" panose="02020603050405020304" pitchFamily="18" charset="0"/>
              </a:rPr>
              <a:t>Germany requires immediate retention focus, while France remains the most stable market.</a:t>
            </a:r>
            <a:endParaRPr kumimoji="0" lang="en-US" altLang="en-US" sz="1600" b="0" i="0" u="none" strike="noStrike" cap="none" normalizeH="0" baseline="0">
              <a:ln>
                <a:noFill/>
              </a:ln>
              <a:solidFill>
                <a:srgbClr val="00206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FCACC565-9E8E-42F0-A0AA-C87C990AB9D3}"/>
              </a:ext>
            </a:extLst>
          </p:cNvPr>
          <p:cNvPicPr>
            <a:picLocks noChangeAspect="1"/>
          </p:cNvPicPr>
          <p:nvPr/>
        </p:nvPicPr>
        <p:blipFill rotWithShape="1">
          <a:blip r:embed="rId2"/>
          <a:srcRect l="12270" t="51023" r="62859" b="19792"/>
          <a:stretch/>
        </p:blipFill>
        <p:spPr>
          <a:xfrm>
            <a:off x="225287" y="1139687"/>
            <a:ext cx="7421217" cy="4744279"/>
          </a:xfrm>
          <a:prstGeom prst="rect">
            <a:avLst/>
          </a:prstGeom>
          <a:ln>
            <a:solidFill>
              <a:schemeClr val="tx1"/>
            </a:solidFill>
          </a:ln>
        </p:spPr>
      </p:pic>
    </p:spTree>
    <p:extLst>
      <p:ext uri="{BB962C8B-B14F-4D97-AF65-F5344CB8AC3E}">
        <p14:creationId xmlns:p14="http://schemas.microsoft.com/office/powerpoint/2010/main" val="1404843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285751" y="0"/>
            <a:ext cx="11601449" cy="715617"/>
          </a:xfrm>
        </p:spPr>
        <p:txBody>
          <a:bodyPr>
            <a:normAutofit/>
          </a:bodyPr>
          <a:lstStyle/>
          <a:p>
            <a:r>
              <a:rPr lang="en-GB" sz="3800" b="1" dirty="0">
                <a:solidFill>
                  <a:schemeClr val="accent5">
                    <a:lumMod val="75000"/>
                  </a:schemeClr>
                </a:solidFill>
                <a:latin typeface="Times New Roman"/>
                <a:ea typeface="Times New Roman"/>
                <a:cs typeface="Times New Roman"/>
                <a:sym typeface="Times New Roman"/>
              </a:rPr>
              <a:t>Churn Count By Credit Card Category</a:t>
            </a:r>
            <a:endParaRPr lang="en-IN" sz="3800" dirty="0">
              <a:solidFill>
                <a:schemeClr val="accent5">
                  <a:lumMod val="75000"/>
                </a:schemeClr>
              </a:solidFill>
            </a:endParaRPr>
          </a:p>
        </p:txBody>
      </p:sp>
      <p:sp>
        <p:nvSpPr>
          <p:cNvPr id="4" name="Subtitle 3"/>
          <p:cNvSpPr>
            <a:spLocks noGrp="1"/>
          </p:cNvSpPr>
          <p:nvPr>
            <p:ph type="subTitle" idx="1"/>
          </p:nvPr>
        </p:nvSpPr>
        <p:spPr>
          <a:xfrm>
            <a:off x="7487478" y="1285461"/>
            <a:ext cx="4704522" cy="4969565"/>
          </a:xfrm>
        </p:spPr>
        <p:txBody>
          <a:bodyPr>
            <a:noAutofit/>
          </a:bodyPr>
          <a:lstStyle/>
          <a:p>
            <a:pPr algn="l"/>
            <a:r>
              <a:rPr lang="en-US" sz="2000" b="1">
                <a:solidFill>
                  <a:srgbClr val="7030A0"/>
                </a:solidFill>
                <a:latin typeface="Times New Roman" panose="02020603050405020304" pitchFamily="18" charset="0"/>
                <a:cs typeface="Times New Roman" panose="02020603050405020304" pitchFamily="18" charset="0"/>
              </a:rPr>
              <a:t>Key Insights</a:t>
            </a:r>
            <a:endParaRPr lang="en-US" sz="2000">
              <a:solidFill>
                <a:srgbClr val="7030A0"/>
              </a:solidFill>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Non-card holders drive most churn.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Churn is higher among non-card holders.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Card holders show stronger retention. </a:t>
            </a:r>
          </a:p>
          <a:p>
            <a:pPr algn="l"/>
            <a:r>
              <a:rPr lang="en-US" sz="2000" b="1">
                <a:solidFill>
                  <a:srgbClr val="7030A0"/>
                </a:solidFill>
                <a:latin typeface="Times New Roman" panose="02020603050405020304" pitchFamily="18" charset="0"/>
                <a:cs typeface="Times New Roman" panose="02020603050405020304" pitchFamily="18" charset="0"/>
              </a:rPr>
              <a:t>Recommendations</a:t>
            </a:r>
            <a:endParaRPr lang="en-US" sz="2000">
              <a:solidFill>
                <a:srgbClr val="7030A0"/>
              </a:solidFill>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Focus retention efforts on non-card holders.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Promote credit card adoption.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Offer card-based rewards and benefits.</a:t>
            </a:r>
          </a:p>
          <a:p>
            <a:pPr algn="l"/>
            <a:endParaRPr lang="en-IN"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9AF5AC3-5652-4E26-B8F8-DA42B1CB7359}"/>
              </a:ext>
            </a:extLst>
          </p:cNvPr>
          <p:cNvSpPr txBox="1"/>
          <p:nvPr/>
        </p:nvSpPr>
        <p:spPr>
          <a:xfrm>
            <a:off x="285751" y="5903843"/>
            <a:ext cx="6380092" cy="646331"/>
          </a:xfrm>
          <a:prstGeom prst="rect">
            <a:avLst/>
          </a:prstGeom>
          <a:noFill/>
        </p:spPr>
        <p:txBody>
          <a:bodyPr wrap="square" rtlCol="0">
            <a:spAutoFit/>
          </a:bodyPr>
          <a:lstStyle/>
          <a:p>
            <a:r>
              <a:rPr lang="en-US" b="1">
                <a:solidFill>
                  <a:srgbClr val="002060"/>
                </a:solidFill>
                <a:latin typeface="Times New Roman" panose="02020603050405020304" pitchFamily="18" charset="0"/>
                <a:cs typeface="Times New Roman" panose="02020603050405020304" pitchFamily="18" charset="0"/>
              </a:rPr>
              <a:t>Credit card ownership is associated with better customer retention and lower churn.</a:t>
            </a:r>
            <a:endParaRPr lang="en-IN" b="1">
              <a:solidFill>
                <a:srgbClr val="00206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17708BD-456F-42EB-9E2B-53F4713716C7}"/>
              </a:ext>
            </a:extLst>
          </p:cNvPr>
          <p:cNvPicPr>
            <a:picLocks noChangeAspect="1"/>
          </p:cNvPicPr>
          <p:nvPr/>
        </p:nvPicPr>
        <p:blipFill rotWithShape="1">
          <a:blip r:embed="rId2"/>
          <a:srcRect l="3696" t="21823" r="62283" b="30038"/>
          <a:stretch/>
        </p:blipFill>
        <p:spPr>
          <a:xfrm>
            <a:off x="172279" y="1073426"/>
            <a:ext cx="7050156" cy="4830417"/>
          </a:xfrm>
          <a:prstGeom prst="rect">
            <a:avLst/>
          </a:prstGeom>
          <a:ln>
            <a:solidFill>
              <a:schemeClr val="tx1"/>
            </a:solidFill>
          </a:ln>
        </p:spPr>
      </p:pic>
    </p:spTree>
    <p:extLst>
      <p:ext uri="{BB962C8B-B14F-4D97-AF65-F5344CB8AC3E}">
        <p14:creationId xmlns:p14="http://schemas.microsoft.com/office/powerpoint/2010/main" val="1238500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1" y="1"/>
            <a:ext cx="12192000" cy="728869"/>
          </a:xfrm>
        </p:spPr>
        <p:txBody>
          <a:bodyPr>
            <a:normAutofit/>
          </a:bodyPr>
          <a:lstStyle/>
          <a:p>
            <a:r>
              <a:rPr lang="en-GB" sz="3800" b="1" dirty="0">
                <a:solidFill>
                  <a:schemeClr val="accent5">
                    <a:lumMod val="75000"/>
                  </a:schemeClr>
                </a:solidFill>
                <a:latin typeface="Times New Roman"/>
                <a:ea typeface="Times New Roman"/>
                <a:cs typeface="Times New Roman"/>
                <a:sym typeface="Times New Roman"/>
              </a:rPr>
              <a:t>Customers &amp; Churn Count By Products </a:t>
            </a:r>
            <a:endParaRPr lang="en-IN" sz="3800" dirty="0">
              <a:solidFill>
                <a:schemeClr val="accent5">
                  <a:lumMod val="75000"/>
                </a:schemeClr>
              </a:solidFill>
            </a:endParaRPr>
          </a:p>
        </p:txBody>
      </p:sp>
      <p:sp>
        <p:nvSpPr>
          <p:cNvPr id="4" name="Subtitle 3"/>
          <p:cNvSpPr>
            <a:spLocks noGrp="1"/>
          </p:cNvSpPr>
          <p:nvPr>
            <p:ph type="subTitle" idx="1"/>
          </p:nvPr>
        </p:nvSpPr>
        <p:spPr>
          <a:xfrm>
            <a:off x="7792279" y="1033671"/>
            <a:ext cx="4399720" cy="5610018"/>
          </a:xfrm>
        </p:spPr>
        <p:txBody>
          <a:bodyPr>
            <a:noAutofit/>
          </a:bodyPr>
          <a:lstStyle/>
          <a:p>
            <a:pPr algn="l"/>
            <a:r>
              <a:rPr lang="en-US" b="1">
                <a:solidFill>
                  <a:srgbClr val="7030A0"/>
                </a:solidFill>
                <a:latin typeface="Times New Roman" panose="02020603050405020304" pitchFamily="18" charset="0"/>
                <a:cs typeface="Times New Roman" panose="02020603050405020304" pitchFamily="18" charset="0"/>
              </a:rPr>
              <a:t>Key Insights</a:t>
            </a:r>
          </a:p>
          <a:p>
            <a:pPr algn="l">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Highest churn from single-product customers. </a:t>
            </a:r>
          </a:p>
          <a:p>
            <a:pPr algn="l">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Multi-product customers are more loyal. </a:t>
            </a:r>
          </a:p>
          <a:p>
            <a:pPr algn="l"/>
            <a:r>
              <a:rPr lang="en-US" b="1">
                <a:solidFill>
                  <a:srgbClr val="7030A0"/>
                </a:solidFill>
                <a:latin typeface="Times New Roman" panose="02020603050405020304" pitchFamily="18" charset="0"/>
                <a:cs typeface="Times New Roman" panose="02020603050405020304" pitchFamily="18" charset="0"/>
              </a:rPr>
              <a:t>Recommendations</a:t>
            </a:r>
          </a:p>
          <a:p>
            <a:pPr algn="l">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Target single-product customers. </a:t>
            </a:r>
          </a:p>
          <a:p>
            <a:pPr algn="l">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Promote cross-selling.</a:t>
            </a:r>
          </a:p>
          <a:p>
            <a:pPr algn="l"/>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30FC37D-FC09-458D-8B08-FEA05A2A5C8D}"/>
              </a:ext>
            </a:extLst>
          </p:cNvPr>
          <p:cNvSpPr txBox="1"/>
          <p:nvPr/>
        </p:nvSpPr>
        <p:spPr>
          <a:xfrm>
            <a:off x="119061" y="5923722"/>
            <a:ext cx="7076869" cy="584775"/>
          </a:xfrm>
          <a:prstGeom prst="rect">
            <a:avLst/>
          </a:prstGeom>
          <a:noFill/>
        </p:spPr>
        <p:txBody>
          <a:bodyPr wrap="square" rtlCol="0">
            <a:spAutoFit/>
          </a:bodyPr>
          <a:lstStyle/>
          <a:p>
            <a:r>
              <a:rPr lang="en-US" sz="1600" b="1">
                <a:solidFill>
                  <a:srgbClr val="002060"/>
                </a:solidFill>
                <a:latin typeface="Times New Roman" panose="02020603050405020304" pitchFamily="18" charset="0"/>
                <a:cs typeface="Times New Roman" panose="02020603050405020304" pitchFamily="18" charset="0"/>
              </a:rPr>
              <a:t>Single-product customers are most likely to churn, while multi-product customers show stronger loyalty</a:t>
            </a:r>
            <a:r>
              <a:rPr lang="en-US" sz="1600"/>
              <a:t>.</a:t>
            </a:r>
            <a:endParaRPr lang="en-IN" sz="1600"/>
          </a:p>
        </p:txBody>
      </p:sp>
      <p:pic>
        <p:nvPicPr>
          <p:cNvPr id="6" name="Picture 5">
            <a:extLst>
              <a:ext uri="{FF2B5EF4-FFF2-40B4-BE49-F238E27FC236}">
                <a16:creationId xmlns:a16="http://schemas.microsoft.com/office/drawing/2014/main" id="{81DA9A35-EDDA-4D6D-AA4F-376AC1F87751}"/>
              </a:ext>
            </a:extLst>
          </p:cNvPr>
          <p:cNvPicPr/>
          <p:nvPr/>
        </p:nvPicPr>
        <p:blipFill rotWithShape="1">
          <a:blip r:embed="rId2"/>
          <a:srcRect l="21271" t="26896" r="41670" b="19310"/>
          <a:stretch/>
        </p:blipFill>
        <p:spPr bwMode="auto">
          <a:xfrm>
            <a:off x="119061" y="834888"/>
            <a:ext cx="7275651" cy="5088834"/>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59640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414337" y="-157162"/>
            <a:ext cx="11530013" cy="806520"/>
          </a:xfrm>
        </p:spPr>
        <p:txBody>
          <a:bodyPr>
            <a:normAutofit/>
          </a:bodyPr>
          <a:lstStyle/>
          <a:p>
            <a:r>
              <a:rPr lang="en-GB" sz="3600" b="1" dirty="0">
                <a:solidFill>
                  <a:schemeClr val="accent5">
                    <a:lumMod val="75000"/>
                  </a:schemeClr>
                </a:solidFill>
                <a:latin typeface="Times New Roman"/>
                <a:ea typeface="Times New Roman"/>
                <a:cs typeface="Times New Roman"/>
                <a:sym typeface="Times New Roman"/>
              </a:rPr>
              <a:t>Exit Rate by Customers &amp; Credit Card Performance </a:t>
            </a:r>
            <a:endParaRPr lang="en-IN" sz="3600" dirty="0">
              <a:solidFill>
                <a:schemeClr val="accent5">
                  <a:lumMod val="75000"/>
                </a:schemeClr>
              </a:solidFill>
            </a:endParaRPr>
          </a:p>
        </p:txBody>
      </p:sp>
      <p:sp>
        <p:nvSpPr>
          <p:cNvPr id="4" name="Subtitle 3"/>
          <p:cNvSpPr>
            <a:spLocks noGrp="1"/>
          </p:cNvSpPr>
          <p:nvPr>
            <p:ph type="subTitle" idx="1"/>
          </p:nvPr>
        </p:nvSpPr>
        <p:spPr>
          <a:xfrm>
            <a:off x="7659757" y="861391"/>
            <a:ext cx="4532243" cy="5996610"/>
          </a:xfrm>
        </p:spPr>
        <p:txBody>
          <a:bodyPr>
            <a:noAutofit/>
          </a:bodyPr>
          <a:lstStyle/>
          <a:p>
            <a:pPr algn="l"/>
            <a:r>
              <a:rPr lang="en-US" b="1">
                <a:solidFill>
                  <a:srgbClr val="7030A0"/>
                </a:solidFill>
                <a:latin typeface="Times New Roman" panose="02020603050405020304" pitchFamily="18" charset="0"/>
                <a:cs typeface="Times New Roman" panose="02020603050405020304" pitchFamily="18" charset="0"/>
              </a:rPr>
              <a:t>Key Insights</a:t>
            </a:r>
          </a:p>
          <a:p>
            <a:pPr algn="l">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Highest churn in Poor &amp; Very Good segments. </a:t>
            </a:r>
          </a:p>
          <a:p>
            <a:pPr algn="l">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Good performers churn the least.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Excellent segment still shows some churn. </a:t>
            </a:r>
          </a:p>
          <a:p>
            <a:pPr algn="l"/>
            <a:r>
              <a:rPr lang="en-US" b="1">
                <a:solidFill>
                  <a:srgbClr val="7030A0"/>
                </a:solidFill>
                <a:latin typeface="Times New Roman" panose="02020603050405020304" pitchFamily="18" charset="0"/>
                <a:cs typeface="Times New Roman" panose="02020603050405020304" pitchFamily="18" charset="0"/>
              </a:rPr>
              <a:t>Recommendations</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Focus retention on Poor &amp; Very Good segments.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Maintain benefits for Good performers.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Monitor the Excellent segment.</a:t>
            </a:r>
          </a:p>
          <a:p>
            <a:pPr marL="180000" indent="-180000" algn="l">
              <a:lnSpc>
                <a:spcPct val="150000"/>
              </a:lnSpc>
              <a:buClr>
                <a:schemeClr val="tx1"/>
              </a:buClr>
              <a:buSzPct val="76000"/>
            </a:pP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52C66EB-71C1-473F-833F-90777B592662}"/>
              </a:ext>
            </a:extLst>
          </p:cNvPr>
          <p:cNvSpPr txBox="1"/>
          <p:nvPr/>
        </p:nvSpPr>
        <p:spPr>
          <a:xfrm>
            <a:off x="172278" y="5804452"/>
            <a:ext cx="6864625" cy="646331"/>
          </a:xfrm>
          <a:prstGeom prst="rect">
            <a:avLst/>
          </a:prstGeom>
          <a:noFill/>
        </p:spPr>
        <p:txBody>
          <a:bodyPr wrap="square" rtlCol="0">
            <a:spAutoFit/>
          </a:bodyPr>
          <a:lstStyle/>
          <a:p>
            <a:r>
              <a:rPr lang="en-US" b="1">
                <a:solidFill>
                  <a:srgbClr val="002060"/>
                </a:solidFill>
                <a:latin typeface="Times New Roman" panose="02020603050405020304" pitchFamily="18" charset="0"/>
                <a:cs typeface="Times New Roman" panose="02020603050405020304" pitchFamily="18" charset="0"/>
              </a:rPr>
              <a:t>Good card performers are the most loyal, while Poor and Very Good segments drive higher churn</a:t>
            </a:r>
            <a:endParaRPr lang="en-IN" b="1">
              <a:solidFill>
                <a:srgbClr val="00206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300D34A-8628-44C2-BAF7-5F4837DE6C93}"/>
              </a:ext>
            </a:extLst>
          </p:cNvPr>
          <p:cNvPicPr>
            <a:picLocks noChangeAspect="1"/>
          </p:cNvPicPr>
          <p:nvPr/>
        </p:nvPicPr>
        <p:blipFill rotWithShape="1">
          <a:blip r:embed="rId2"/>
          <a:srcRect l="19999" t="27235" r="39675" b="20566"/>
          <a:stretch/>
        </p:blipFill>
        <p:spPr>
          <a:xfrm>
            <a:off x="172278" y="861391"/>
            <a:ext cx="7262192" cy="4850296"/>
          </a:xfrm>
          <a:prstGeom prst="rect">
            <a:avLst/>
          </a:prstGeom>
        </p:spPr>
      </p:pic>
    </p:spTree>
    <p:extLst>
      <p:ext uri="{BB962C8B-B14F-4D97-AF65-F5344CB8AC3E}">
        <p14:creationId xmlns:p14="http://schemas.microsoft.com/office/powerpoint/2010/main" val="3652392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1524000" y="1"/>
            <a:ext cx="9144000" cy="728869"/>
          </a:xfrm>
        </p:spPr>
        <p:txBody>
          <a:bodyPr>
            <a:normAutofit/>
          </a:bodyPr>
          <a:lstStyle/>
          <a:p>
            <a:r>
              <a:rPr lang="en-GB" sz="4000" b="1" dirty="0">
                <a:solidFill>
                  <a:schemeClr val="accent5">
                    <a:lumMod val="75000"/>
                  </a:schemeClr>
                </a:solidFill>
                <a:latin typeface="Times New Roman"/>
                <a:ea typeface="Times New Roman"/>
                <a:cs typeface="Times New Roman"/>
                <a:sym typeface="Times New Roman"/>
              </a:rPr>
              <a:t>Exit Rate by Age Group</a:t>
            </a:r>
            <a:endParaRPr lang="en-IN" sz="4000" dirty="0">
              <a:solidFill>
                <a:schemeClr val="accent5">
                  <a:lumMod val="75000"/>
                </a:schemeClr>
              </a:solidFill>
            </a:endParaRPr>
          </a:p>
        </p:txBody>
      </p:sp>
      <p:sp>
        <p:nvSpPr>
          <p:cNvPr id="4" name="Subtitle 3"/>
          <p:cNvSpPr>
            <a:spLocks noGrp="1"/>
          </p:cNvSpPr>
          <p:nvPr>
            <p:ph type="subTitle" idx="1"/>
          </p:nvPr>
        </p:nvSpPr>
        <p:spPr>
          <a:xfrm>
            <a:off x="7951304" y="1298713"/>
            <a:ext cx="4240695" cy="5287826"/>
          </a:xfrm>
        </p:spPr>
        <p:txBody>
          <a:bodyPr>
            <a:noAutofit/>
          </a:bodyPr>
          <a:lstStyle/>
          <a:p>
            <a:pPr algn="l"/>
            <a:r>
              <a:rPr lang="en-US" b="1">
                <a:solidFill>
                  <a:srgbClr val="7030A0"/>
                </a:solidFill>
                <a:latin typeface="Times New Roman" panose="02020603050405020304" pitchFamily="18" charset="0"/>
                <a:cs typeface="Times New Roman" panose="02020603050405020304" pitchFamily="18" charset="0"/>
              </a:rPr>
              <a:t>Key Insights</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Highest churn in the 50+ segment.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Lowest churn among ages 18–30.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30–50 is the largest customer group. </a:t>
            </a:r>
          </a:p>
          <a:p>
            <a:pPr algn="l"/>
            <a:r>
              <a:rPr lang="en-US" b="1">
                <a:solidFill>
                  <a:srgbClr val="7030A0"/>
                </a:solidFill>
                <a:latin typeface="Times New Roman" panose="02020603050405020304" pitchFamily="18" charset="0"/>
                <a:cs typeface="Times New Roman" panose="02020603050405020304" pitchFamily="18" charset="0"/>
              </a:rPr>
              <a:t>Recommendations</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Focus retention on 50+ customers.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Keep younger customers engaged.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Monitor the 30–50 segment</a:t>
            </a:r>
            <a:r>
              <a:rPr lang="en-US">
                <a:latin typeface="Times New Roman" panose="02020603050405020304" pitchFamily="18" charset="0"/>
                <a:cs typeface="Times New Roman" panose="02020603050405020304" pitchFamily="18" charset="0"/>
              </a:rPr>
              <a:t>.</a:t>
            </a:r>
          </a:p>
          <a:p>
            <a:pPr algn="l"/>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7BC9D33-6775-4977-91CD-ACD2DCBA7567}"/>
              </a:ext>
            </a:extLst>
          </p:cNvPr>
          <p:cNvSpPr txBox="1"/>
          <p:nvPr/>
        </p:nvSpPr>
        <p:spPr>
          <a:xfrm>
            <a:off x="185530" y="5592417"/>
            <a:ext cx="7341705" cy="646331"/>
          </a:xfrm>
          <a:prstGeom prst="rect">
            <a:avLst/>
          </a:prstGeom>
          <a:noFill/>
        </p:spPr>
        <p:txBody>
          <a:bodyPr wrap="square" rtlCol="0">
            <a:spAutoFit/>
          </a:bodyPr>
          <a:lstStyle/>
          <a:p>
            <a:r>
              <a:rPr lang="en-US" b="1">
                <a:solidFill>
                  <a:srgbClr val="002060"/>
                </a:solidFill>
                <a:latin typeface="Times New Roman" panose="02020603050405020304" pitchFamily="18" charset="0"/>
                <a:cs typeface="Times New Roman" panose="02020603050405020304" pitchFamily="18" charset="0"/>
              </a:rPr>
              <a:t>Churn risk increases with age, making the 50+ segment a key retention priority.</a:t>
            </a:r>
            <a:endParaRPr lang="en-IN" b="1">
              <a:solidFill>
                <a:srgbClr val="002060"/>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FB5A068-F27E-4F6D-B818-F57B11531FE5}"/>
              </a:ext>
            </a:extLst>
          </p:cNvPr>
          <p:cNvPicPr>
            <a:picLocks noChangeAspect="1"/>
          </p:cNvPicPr>
          <p:nvPr/>
        </p:nvPicPr>
        <p:blipFill rotWithShape="1">
          <a:blip r:embed="rId2"/>
          <a:srcRect l="19783" t="26848" r="37500" b="18439"/>
          <a:stretch/>
        </p:blipFill>
        <p:spPr>
          <a:xfrm>
            <a:off x="185530" y="1073426"/>
            <a:ext cx="7487479" cy="4518991"/>
          </a:xfrm>
          <a:prstGeom prst="rect">
            <a:avLst/>
          </a:prstGeom>
        </p:spPr>
      </p:pic>
    </p:spTree>
    <p:extLst>
      <p:ext uri="{BB962C8B-B14F-4D97-AF65-F5344CB8AC3E}">
        <p14:creationId xmlns:p14="http://schemas.microsoft.com/office/powerpoint/2010/main" val="2065191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
            <a:ext cx="9144000" cy="742121"/>
          </a:xfrm>
        </p:spPr>
        <p:txBody>
          <a:bodyPr>
            <a:normAutofit/>
          </a:bodyPr>
          <a:lstStyle/>
          <a:p>
            <a:r>
              <a:rPr lang="en-GB" sz="4000" b="1" dirty="0">
                <a:solidFill>
                  <a:schemeClr val="accent5">
                    <a:lumMod val="75000"/>
                  </a:schemeClr>
                </a:solidFill>
                <a:latin typeface="Times New Roman"/>
                <a:ea typeface="Times New Roman"/>
                <a:cs typeface="Times New Roman"/>
                <a:sym typeface="Times New Roman"/>
              </a:rPr>
              <a:t>Customers Exit by Tenure</a:t>
            </a:r>
            <a:endParaRPr lang="en-IN" sz="4000"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7500730" y="1245704"/>
            <a:ext cx="4691269" cy="5612297"/>
          </a:xfrm>
        </p:spPr>
        <p:txBody>
          <a:bodyPr>
            <a:normAutofit/>
          </a:bodyPr>
          <a:lstStyle/>
          <a:p>
            <a:pPr algn="l">
              <a:lnSpc>
                <a:spcPct val="150000"/>
              </a:lnSpc>
            </a:pPr>
            <a:r>
              <a:rPr lang="en-US" sz="2000" b="1">
                <a:solidFill>
                  <a:srgbClr val="7030A0"/>
                </a:solidFill>
                <a:latin typeface="Times New Roman" panose="02020603050405020304" pitchFamily="18" charset="0"/>
                <a:cs typeface="Times New Roman" panose="02020603050405020304" pitchFamily="18" charset="0"/>
              </a:rPr>
              <a:t>Key Insights</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Churn peaks at 4–5 years of tenure.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Retention declines with longer tenure.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New and long-tenured customers churn less. </a:t>
            </a:r>
          </a:p>
          <a:p>
            <a:pPr algn="l">
              <a:lnSpc>
                <a:spcPct val="150000"/>
              </a:lnSpc>
            </a:pPr>
            <a:r>
              <a:rPr lang="en-US" sz="2000" b="1">
                <a:solidFill>
                  <a:srgbClr val="7030A0"/>
                </a:solidFill>
                <a:latin typeface="Times New Roman" panose="02020603050405020304" pitchFamily="18" charset="0"/>
                <a:cs typeface="Times New Roman" panose="02020603050405020304" pitchFamily="18" charset="0"/>
              </a:rPr>
              <a:t>Recommendations</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Focus on 4–5 year customers.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Improve mid-tenure engagement. </a:t>
            </a:r>
          </a:p>
          <a:p>
            <a:pPr algn="l">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Introduce loyalty programs.</a:t>
            </a:r>
          </a:p>
          <a:p>
            <a:pPr algn="l"/>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BF498AB-8680-4325-A106-0E8C48C9B370}"/>
              </a:ext>
            </a:extLst>
          </p:cNvPr>
          <p:cNvSpPr txBox="1"/>
          <p:nvPr/>
        </p:nvSpPr>
        <p:spPr>
          <a:xfrm>
            <a:off x="95795" y="5764696"/>
            <a:ext cx="6821840" cy="646331"/>
          </a:xfrm>
          <a:prstGeom prst="rect">
            <a:avLst/>
          </a:prstGeom>
          <a:noFill/>
        </p:spPr>
        <p:txBody>
          <a:bodyPr wrap="square" rtlCol="0">
            <a:spAutoFit/>
          </a:bodyPr>
          <a:lstStyle/>
          <a:p>
            <a:r>
              <a:rPr lang="en-US" b="1">
                <a:solidFill>
                  <a:srgbClr val="002060"/>
                </a:solidFill>
                <a:latin typeface="Times New Roman" panose="02020603050405020304" pitchFamily="18" charset="0"/>
                <a:cs typeface="Times New Roman" panose="02020603050405020304" pitchFamily="18" charset="0"/>
              </a:rPr>
              <a:t>Churn peaks during the mid-tenure period, while new and long-tenured customers remain more loyal. </a:t>
            </a:r>
            <a:endParaRPr lang="en-IN" b="1">
              <a:solidFill>
                <a:srgbClr val="00206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C873910-6903-4098-B364-FDB93DE95A0D}"/>
              </a:ext>
            </a:extLst>
          </p:cNvPr>
          <p:cNvPicPr>
            <a:picLocks noChangeAspect="1"/>
          </p:cNvPicPr>
          <p:nvPr/>
        </p:nvPicPr>
        <p:blipFill rotWithShape="1">
          <a:blip r:embed="rId2"/>
          <a:srcRect l="14348" t="23949" r="36087" b="20565"/>
          <a:stretch/>
        </p:blipFill>
        <p:spPr>
          <a:xfrm>
            <a:off x="95795" y="940904"/>
            <a:ext cx="7100135" cy="4823792"/>
          </a:xfrm>
          <a:prstGeom prst="rect">
            <a:avLst/>
          </a:prstGeom>
        </p:spPr>
      </p:pic>
    </p:spTree>
    <p:extLst>
      <p:ext uri="{BB962C8B-B14F-4D97-AF65-F5344CB8AC3E}">
        <p14:creationId xmlns:p14="http://schemas.microsoft.com/office/powerpoint/2010/main" val="2441086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7188" y="1"/>
            <a:ext cx="10996611" cy="609600"/>
          </a:xfrm>
        </p:spPr>
        <p:txBody>
          <a:bodyPr>
            <a:noAutofit/>
          </a:bodyPr>
          <a:lstStyle/>
          <a:p>
            <a:pPr algn="ctr"/>
            <a:r>
              <a:rPr lang="en-US" b="1">
                <a:solidFill>
                  <a:schemeClr val="accent5">
                    <a:lumMod val="75000"/>
                  </a:schemeClr>
                </a:solidFill>
                <a:latin typeface="Times New Roman" panose="02020603050405020304" pitchFamily="18" charset="0"/>
                <a:cs typeface="Times New Roman" panose="02020603050405020304" pitchFamily="18" charset="0"/>
              </a:rPr>
              <a:t>Dashboard</a:t>
            </a:r>
            <a:endParaRPr lang="en-IN" b="1" dirty="0">
              <a:solidFill>
                <a:schemeClr val="accent5">
                  <a:lumMod val="75000"/>
                </a:schemeClr>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6CFC378-1CEE-468C-AAEA-42CAA1E8FD18}"/>
              </a:ext>
            </a:extLst>
          </p:cNvPr>
          <p:cNvPicPr>
            <a:picLocks noChangeAspect="1"/>
          </p:cNvPicPr>
          <p:nvPr/>
        </p:nvPicPr>
        <p:blipFill rotWithShape="1">
          <a:blip r:embed="rId2"/>
          <a:srcRect l="3696" t="20469" r="29891" b="8772"/>
          <a:stretch/>
        </p:blipFill>
        <p:spPr>
          <a:xfrm>
            <a:off x="357188" y="742123"/>
            <a:ext cx="11437247" cy="5751442"/>
          </a:xfrm>
          <a:prstGeom prst="rect">
            <a:avLst/>
          </a:prstGeom>
          <a:ln>
            <a:solidFill>
              <a:schemeClr val="tx1"/>
            </a:solidFill>
          </a:ln>
        </p:spPr>
      </p:pic>
    </p:spTree>
    <p:extLst>
      <p:ext uri="{BB962C8B-B14F-4D97-AF65-F5344CB8AC3E}">
        <p14:creationId xmlns:p14="http://schemas.microsoft.com/office/powerpoint/2010/main" val="56111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8309976-2A0C-4AA4-BE13-E3C5BB1D2298}"/>
              </a:ext>
            </a:extLst>
          </p:cNvPr>
          <p:cNvPicPr>
            <a:picLocks noChangeAspect="1"/>
          </p:cNvPicPr>
          <p:nvPr/>
        </p:nvPicPr>
        <p:blipFill rotWithShape="1">
          <a:blip r:embed="rId2"/>
          <a:srcRect l="3913" t="20662" r="29565" b="8578"/>
          <a:stretch/>
        </p:blipFill>
        <p:spPr>
          <a:xfrm>
            <a:off x="384313" y="556592"/>
            <a:ext cx="11370365" cy="5764695"/>
          </a:xfrm>
          <a:prstGeom prst="rect">
            <a:avLst/>
          </a:prstGeom>
          <a:ln>
            <a:solidFill>
              <a:schemeClr val="tx1"/>
            </a:solidFill>
          </a:ln>
        </p:spPr>
      </p:pic>
    </p:spTree>
    <p:extLst>
      <p:ext uri="{BB962C8B-B14F-4D97-AF65-F5344CB8AC3E}">
        <p14:creationId xmlns:p14="http://schemas.microsoft.com/office/powerpoint/2010/main" val="3468875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0898538-30F7-41AE-B0DB-947D52D4C287}"/>
              </a:ext>
            </a:extLst>
          </p:cNvPr>
          <p:cNvPicPr>
            <a:picLocks noChangeAspect="1"/>
          </p:cNvPicPr>
          <p:nvPr/>
        </p:nvPicPr>
        <p:blipFill rotWithShape="1">
          <a:blip r:embed="rId2"/>
          <a:srcRect l="3479" t="21048" r="29239" b="9158"/>
          <a:stretch/>
        </p:blipFill>
        <p:spPr>
          <a:xfrm>
            <a:off x="410817" y="503583"/>
            <a:ext cx="11274436" cy="5817704"/>
          </a:xfrm>
          <a:prstGeom prst="rect">
            <a:avLst/>
          </a:prstGeom>
          <a:ln>
            <a:solidFill>
              <a:schemeClr val="tx1"/>
            </a:solidFill>
          </a:ln>
        </p:spPr>
      </p:pic>
    </p:spTree>
    <p:extLst>
      <p:ext uri="{BB962C8B-B14F-4D97-AF65-F5344CB8AC3E}">
        <p14:creationId xmlns:p14="http://schemas.microsoft.com/office/powerpoint/2010/main" val="1656589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D2024E7-08C5-4E4D-A628-1CB8B65C552B}"/>
              </a:ext>
            </a:extLst>
          </p:cNvPr>
          <p:cNvPicPr>
            <a:picLocks noChangeAspect="1"/>
          </p:cNvPicPr>
          <p:nvPr/>
        </p:nvPicPr>
        <p:blipFill rotWithShape="1">
          <a:blip r:embed="rId2"/>
          <a:srcRect l="3913" t="21048" r="28913" b="8772"/>
          <a:stretch/>
        </p:blipFill>
        <p:spPr>
          <a:xfrm>
            <a:off x="543340" y="437322"/>
            <a:ext cx="11357113" cy="6042991"/>
          </a:xfrm>
          <a:prstGeom prst="rect">
            <a:avLst/>
          </a:prstGeom>
        </p:spPr>
      </p:pic>
    </p:spTree>
    <p:extLst>
      <p:ext uri="{BB962C8B-B14F-4D97-AF65-F5344CB8AC3E}">
        <p14:creationId xmlns:p14="http://schemas.microsoft.com/office/powerpoint/2010/main" val="4229535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0014" y="1"/>
            <a:ext cx="11358562" cy="914399"/>
          </a:xfrm>
        </p:spPr>
        <p:txBody>
          <a:bodyPr>
            <a:normAutofit/>
          </a:bodyPr>
          <a:lstStyle/>
          <a:p>
            <a:r>
              <a:rPr lang="en-GB" sz="4000" b="1" dirty="0">
                <a:solidFill>
                  <a:schemeClr val="accent5">
                    <a:lumMod val="75000"/>
                  </a:schemeClr>
                </a:solidFill>
                <a:latin typeface="Times New Roman"/>
                <a:ea typeface="Times New Roman"/>
                <a:cs typeface="Times New Roman"/>
                <a:sym typeface="Times New Roman"/>
              </a:rPr>
              <a:t>Data Challenges in Churn Analysis</a:t>
            </a:r>
            <a:endParaRPr lang="en-IN" sz="4000"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type="subTitle" idx="1"/>
          </p:nvPr>
        </p:nvSpPr>
        <p:spPr bwMode="auto">
          <a:xfrm>
            <a:off x="414338" y="995066"/>
            <a:ext cx="10787062" cy="5093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8000" lvl="0" indent="-288000" algn="l"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Imbalanced customer churn data.  </a:t>
            </a:r>
          </a:p>
          <a:p>
            <a:pPr marL="288000" lvl="0" indent="-288000" algn="l"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Missing financial and behavioral attributes.  </a:t>
            </a:r>
          </a:p>
          <a:p>
            <a:pPr marL="288000" lvl="0" indent="-288000" algn="l"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factors influencing churn.  </a:t>
            </a:r>
          </a:p>
          <a:p>
            <a:pPr marL="288000" lvl="0" indent="-288000" algn="l"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Regional variations in customer behavior.  </a:t>
            </a:r>
          </a:p>
          <a:p>
            <a:pPr marL="288000" lvl="0" indent="-288000" algn="l"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transaction and product usage data.  </a:t>
            </a:r>
          </a:p>
          <a:p>
            <a:pPr marL="288000" lvl="0" indent="-288000" algn="l"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quality and missing value issues.  </a:t>
            </a:r>
          </a:p>
          <a:p>
            <a:pPr marL="288000" lvl="0" indent="-288000" algn="l"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Difficulty identifying key churn drivers.  </a:t>
            </a:r>
          </a:p>
          <a:p>
            <a:pPr marL="288000" lvl="0" indent="-288000" algn="l"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historical data for trend analysis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10700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57189"/>
            <a:ext cx="9144000" cy="857250"/>
          </a:xfrm>
        </p:spPr>
        <p:txBody>
          <a:bodyPr>
            <a:normAutofit/>
          </a:bodyPr>
          <a:lstStyle/>
          <a:p>
            <a:r>
              <a:rPr lang="en-GB" sz="4400" b="1" dirty="0">
                <a:solidFill>
                  <a:schemeClr val="accent5">
                    <a:lumMod val="75000"/>
                  </a:schemeClr>
                </a:solidFill>
                <a:latin typeface="Times New Roman"/>
                <a:ea typeface="Times New Roman"/>
                <a:cs typeface="Times New Roman"/>
                <a:sym typeface="Times New Roman"/>
              </a:rPr>
              <a:t>Recommendations</a:t>
            </a:r>
            <a:endParaRPr lang="en-IN" sz="4400"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type="subTitle" idx="1"/>
          </p:nvPr>
        </p:nvSpPr>
        <p:spPr bwMode="auto">
          <a:xfrm>
            <a:off x="600075" y="1868956"/>
            <a:ext cx="112014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8000" marR="0" lvl="0" indent="-28800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Target High-Risk Segments:</a:t>
            </a:r>
            <a:r>
              <a:rPr kumimoji="0" lang="en-US" altLang="en-US" sz="2000" b="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 Focus retention efforts on females aged 50+ and German customers. </a:t>
            </a:r>
          </a:p>
          <a:p>
            <a:pPr marL="288000" marR="0" lvl="0" indent="-28800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endParaRPr>
          </a:p>
          <a:p>
            <a:pPr marL="288000" marR="0" lvl="0" indent="-28800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Increase Product Adoption:</a:t>
            </a:r>
            <a:r>
              <a:rPr kumimoji="0" lang="en-US" altLang="en-US" sz="2000" b="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 Promote additional products and credit card usage through personalized offers. </a:t>
            </a:r>
          </a:p>
          <a:p>
            <a:pPr marL="288000" marR="0" lvl="0" indent="-28800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endParaRPr>
          </a:p>
          <a:p>
            <a:pPr marL="288000" marR="0" lvl="0" indent="-28800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Strengthen Loyalty Programs:</a:t>
            </a:r>
            <a:r>
              <a:rPr kumimoji="0" lang="en-US" altLang="en-US" sz="2000" b="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 Reward stable customer segments and retain mid-credit score customers. </a:t>
            </a:r>
          </a:p>
          <a:p>
            <a:pPr marL="288000" marR="0" lvl="0" indent="-28800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endParaRPr>
          </a:p>
          <a:p>
            <a:pPr marL="288000" marR="0" lvl="0" indent="-28800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Improve Customer Targeting:</a:t>
            </a:r>
            <a:r>
              <a:rPr kumimoji="0" lang="en-US" altLang="en-US" sz="2000" b="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 Avoid relying solely on salary for churn prediction and segmentation. </a:t>
            </a:r>
          </a:p>
          <a:p>
            <a:pPr marL="288000" marR="0" lvl="0" indent="-28800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endParaRPr>
          </a:p>
          <a:p>
            <a:pPr marL="288000" marR="0" lvl="0" indent="-28800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Optimize Geographic Strategy:</a:t>
            </a:r>
            <a:r>
              <a:rPr kumimoji="0" lang="en-US" altLang="en-US" sz="2000" b="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 Prioritize growth in France and Spain due to lower churn and larger customer bases. </a:t>
            </a:r>
          </a:p>
        </p:txBody>
      </p:sp>
    </p:spTree>
    <p:extLst>
      <p:ext uri="{BB962C8B-B14F-4D97-AF65-F5344CB8AC3E}">
        <p14:creationId xmlns:p14="http://schemas.microsoft.com/office/powerpoint/2010/main" val="352307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5750"/>
            <a:ext cx="9144000" cy="828675"/>
          </a:xfrm>
        </p:spPr>
        <p:txBody>
          <a:bodyPr>
            <a:normAutofit fontScale="90000"/>
          </a:bodyPr>
          <a:lstStyle/>
          <a:p>
            <a:r>
              <a:rPr lang="en-US" b="1" dirty="0">
                <a:solidFill>
                  <a:schemeClr val="accent5">
                    <a:lumMod val="75000"/>
                  </a:schemeClr>
                </a:solidFill>
                <a:latin typeface="Times New Roman" panose="02020603050405020304" pitchFamily="18" charset="0"/>
                <a:cs typeface="Times New Roman" panose="02020603050405020304" pitchFamily="18" charset="0"/>
              </a:rPr>
              <a:t>Conclusion</a:t>
            </a:r>
            <a:endParaRPr lang="en-IN"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type="subTitle" idx="1"/>
          </p:nvPr>
        </p:nvSpPr>
        <p:spPr bwMode="auto">
          <a:xfrm>
            <a:off x="428626" y="1690751"/>
            <a:ext cx="11374664" cy="3626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8000" marR="0" lvl="0" indent="-28800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churn among females aged 50+ and German customers. </a:t>
            </a:r>
          </a:p>
          <a:p>
            <a:pPr marL="288000" marR="0" lvl="0" indent="-28800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Young customers (18–30) and mid-credit score customers show stronger loyalty. </a:t>
            </a:r>
          </a:p>
          <a:p>
            <a:pPr marL="288000" marR="0" lvl="0" indent="-28800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France has the largest customer base and lowest churn rate. </a:t>
            </a:r>
          </a:p>
          <a:p>
            <a:pPr marL="288000" marR="0" lvl="0" indent="-28800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customers hold only one product, creating cross-sell opportunities. </a:t>
            </a:r>
          </a:p>
          <a:p>
            <a:pPr marL="288000" marR="0" lvl="0" indent="-28800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Non-credit card holders present potential for product adoption. </a:t>
            </a:r>
          </a:p>
          <a:p>
            <a:pPr marL="288000" marR="0" lvl="0" indent="-28800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Salary has minimal impact on churn and customer behavior</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2920159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7188" y="365125"/>
            <a:ext cx="10996611" cy="5178425"/>
          </a:xfrm>
        </p:spPr>
        <p:txBody>
          <a:bodyPr>
            <a:normAutofit/>
          </a:bodyPr>
          <a:lstStyle/>
          <a:p>
            <a:pPr algn="ctr"/>
            <a:r>
              <a:rPr lang="en-US" sz="6000" b="1" dirty="0">
                <a:solidFill>
                  <a:schemeClr val="accent5">
                    <a:lumMod val="75000"/>
                  </a:schemeClr>
                </a:solidFill>
                <a:latin typeface="Times New Roman" panose="02020603050405020304" pitchFamily="18" charset="0"/>
                <a:cs typeface="Times New Roman" panose="02020603050405020304" pitchFamily="18" charset="0"/>
              </a:rPr>
              <a:t>Thank You</a:t>
            </a:r>
            <a:endParaRPr lang="en-IN" sz="6000" b="1" dirty="0">
              <a:solidFill>
                <a:schemeClr val="accent5">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96462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TotalTime>
  <Words>1163</Words>
  <Application>Microsoft Office PowerPoint</Application>
  <PresentationFormat>Widescreen</PresentationFormat>
  <Paragraphs>170</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Times New Roman</vt:lpstr>
      <vt:lpstr>Office Theme</vt:lpstr>
      <vt:lpstr>Presented By Moumita  Samaddar </vt:lpstr>
      <vt:lpstr>Agenda</vt:lpstr>
      <vt:lpstr>Introduction</vt:lpstr>
      <vt:lpstr>Project Aim</vt:lpstr>
      <vt:lpstr>Problem Statement</vt:lpstr>
      <vt:lpstr>Data Overview</vt:lpstr>
      <vt:lpstr>The image above displays details about Bank Customer data, including: </vt:lpstr>
      <vt:lpstr>PowerPoint Presentation</vt:lpstr>
      <vt:lpstr>Churn Rate By Gender &amp; Year</vt:lpstr>
      <vt:lpstr>Churn Count By Year</vt:lpstr>
      <vt:lpstr>Customers &amp; Churn Rate by Age Group</vt:lpstr>
      <vt:lpstr>Churn Rate By Gender</vt:lpstr>
      <vt:lpstr>Churn Rate By Geography Location</vt:lpstr>
      <vt:lpstr>Churn Count By Credit Card Category</vt:lpstr>
      <vt:lpstr>Customers &amp; Churn Count By Products </vt:lpstr>
      <vt:lpstr>Exit Rate by Customers &amp; Credit Card Performance </vt:lpstr>
      <vt:lpstr>Exit Rate by Age Group</vt:lpstr>
      <vt:lpstr>Customers Exit by Tenure</vt:lpstr>
      <vt:lpstr>Dashboard</vt:lpstr>
      <vt:lpstr>PowerPoint Presentation</vt:lpstr>
      <vt:lpstr>PowerPoint Presentation</vt:lpstr>
      <vt:lpstr>PowerPoint Presentation</vt:lpstr>
      <vt:lpstr>Data Challenges in Churn Analysis</vt:lpstr>
      <vt:lpstr>Recommendations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-By  Moumita Samaddar</dc:title>
  <dc:creator>RENTO</dc:creator>
  <cp:lastModifiedBy>H.P</cp:lastModifiedBy>
  <cp:revision>41</cp:revision>
  <dcterms:created xsi:type="dcterms:W3CDTF">2026-06-23T05:00:20Z</dcterms:created>
  <dcterms:modified xsi:type="dcterms:W3CDTF">2026-06-25T14:41:44Z</dcterms:modified>
</cp:coreProperties>
</file>